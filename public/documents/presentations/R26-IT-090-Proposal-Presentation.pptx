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42"/>
  </p:notesMasterIdLst>
  <p:handoutMasterIdLst>
    <p:handoutMasterId r:id="rId43"/>
  </p:handoutMasterIdLst>
  <p:sldIdLst>
    <p:sldId id="297" r:id="rId5"/>
    <p:sldId id="298" r:id="rId6"/>
    <p:sldId id="299" r:id="rId7"/>
    <p:sldId id="300" r:id="rId8"/>
    <p:sldId id="302" r:id="rId9"/>
    <p:sldId id="303" r:id="rId10"/>
    <p:sldId id="264" r:id="rId11"/>
    <p:sldId id="305" r:id="rId12"/>
    <p:sldId id="306" r:id="rId13"/>
    <p:sldId id="307" r:id="rId14"/>
    <p:sldId id="328" r:id="rId15"/>
    <p:sldId id="329" r:id="rId16"/>
    <p:sldId id="316" r:id="rId17"/>
    <p:sldId id="317" r:id="rId18"/>
    <p:sldId id="318" r:id="rId19"/>
    <p:sldId id="319" r:id="rId20"/>
    <p:sldId id="320" r:id="rId21"/>
    <p:sldId id="321" r:id="rId22"/>
    <p:sldId id="308" r:id="rId23"/>
    <p:sldId id="309" r:id="rId24"/>
    <p:sldId id="310" r:id="rId25"/>
    <p:sldId id="311" r:id="rId26"/>
    <p:sldId id="312" r:id="rId27"/>
    <p:sldId id="315" r:id="rId28"/>
    <p:sldId id="313" r:id="rId29"/>
    <p:sldId id="314" r:id="rId30"/>
    <p:sldId id="322" r:id="rId31"/>
    <p:sldId id="323" r:id="rId32"/>
    <p:sldId id="324" r:id="rId33"/>
    <p:sldId id="325" r:id="rId34"/>
    <p:sldId id="326" r:id="rId35"/>
    <p:sldId id="327" r:id="rId36"/>
    <p:sldId id="330" r:id="rId37"/>
    <p:sldId id="331" r:id="rId38"/>
    <p:sldId id="332" r:id="rId39"/>
    <p:sldId id="333" r:id="rId40"/>
    <p:sldId id="334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CB1A60-B60A-4BFF-9FBF-1D60ECC3F4AD}" v="81" dt="2026-03-16T07:13:15.1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60"/>
  </p:normalViewPr>
  <p:slideViewPr>
    <p:cSldViewPr>
      <p:cViewPr varScale="1">
        <p:scale>
          <a:sx n="76" d="100"/>
          <a:sy n="76" d="100"/>
        </p:scale>
        <p:origin x="53" y="19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9" d="100"/>
          <a:sy n="69" d="100"/>
        </p:scale>
        <p:origin x="2568" y="3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handoutMaster" Target="handoutMasters/handoutMaster1.xml"/><Relationship Id="rId48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AAE38-79BE-4082-9A4D-2BEC47341C0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15613-D24F-46B4-9010-BD7B318E3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503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BCF22-2D75-4779-9C8B-6270AA3FA919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B8AC8-E212-48B2-9917-7448FC83D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590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roject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762000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the Project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25146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Project ID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449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088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dividua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1188891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al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0238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Sub-Titles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C29E58-4878-471A-A8CF-FA8607A4052E}"/>
              </a:ext>
            </a:extLst>
          </p:cNvPr>
          <p:cNvSpPr/>
          <p:nvPr userDrawn="1"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ITXXXXXXXX</a:t>
            </a:r>
            <a:r>
              <a:rPr lang="en-US" sz="1800" dirty="0">
                <a:solidFill>
                  <a:schemeClr val="tx1"/>
                </a:solidFill>
              </a:rPr>
              <a:t>   |   &lt;</a:t>
            </a:r>
            <a:r>
              <a:rPr lang="en-US" sz="1800" b="1" dirty="0">
                <a:solidFill>
                  <a:schemeClr val="tx1"/>
                </a:solidFill>
              </a:rPr>
              <a:t>&lt;Student Name&gt;&gt;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b="0" dirty="0">
                <a:solidFill>
                  <a:schemeClr val="tx1"/>
                </a:solidFill>
              </a:rPr>
              <a:t>&lt;&lt;Project ID&gt;&gt;</a:t>
            </a:r>
          </a:p>
        </p:txBody>
      </p:sp>
    </p:spTree>
    <p:extLst>
      <p:ext uri="{BB962C8B-B14F-4D97-AF65-F5344CB8AC3E}">
        <p14:creationId xmlns:p14="http://schemas.microsoft.com/office/powerpoint/2010/main" val="3293331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tudent Information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Student IT Number | Student Name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Student’s Specialization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2008593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0358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7086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65089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1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75490AD-C6C9-4021-8C34-1F6444AB48BF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22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二等辺三角形 11"/>
          <p:cNvSpPr/>
          <p:nvPr userDrawn="1"/>
        </p:nvSpPr>
        <p:spPr>
          <a:xfrm>
            <a:off x="0" y="6406010"/>
            <a:ext cx="12192000" cy="452885"/>
          </a:xfrm>
          <a:prstGeom prst="triangle">
            <a:avLst>
              <a:gd name="adj" fmla="val 85448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557430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7524049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612078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310850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143000"/>
            <a:ext cx="116840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064364F-1F37-4C7B-B31F-2D4F671B2CB9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0503738D-67F6-4FC8-88E8-C0D768AD33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6EC11E-4ADA-413C-92B1-C0871F068AF1}"/>
              </a:ext>
            </a:extLst>
          </p:cNvPr>
          <p:cNvSpPr txBox="1"/>
          <p:nvPr userDrawn="1"/>
        </p:nvSpPr>
        <p:spPr>
          <a:xfrm>
            <a:off x="10287000" y="6536937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8C4007C-554A-4B16-A31C-089CB53EF86F}" type="datetime1">
              <a:rPr lang="en-US" sz="1200" b="1" smtClean="0"/>
              <a:t>3/15/2026</a:t>
            </a:fld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4137453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50" r:id="rId3"/>
    <p:sldLayoutId id="2147483662" r:id="rId4"/>
    <p:sldLayoutId id="2147483651" r:id="rId5"/>
    <p:sldLayoutId id="2147483660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dobe Devanagari" pitchFamily="18" charset="0"/>
          <a:ea typeface="+mj-ea"/>
          <a:cs typeface="Adobe Devanagari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Wingdings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0B645-3AA4-2E3D-571F-786B8D4B63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990600"/>
            <a:ext cx="10363200" cy="147002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AI-Powered Smart Service Marketplace with Intelligent Discovery and Dynamic Pricing Models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D5A9AC-835B-6C6C-5086-297B213B4C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276600"/>
            <a:ext cx="8534400" cy="91440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R26-IT-090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71518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B052AB-DD70-19C8-BF82-F9A06F7BD624}"/>
              </a:ext>
            </a:extLst>
          </p:cNvPr>
          <p:cNvSpPr txBox="1"/>
          <p:nvPr/>
        </p:nvSpPr>
        <p:spPr>
          <a:xfrm>
            <a:off x="2133600" y="1981200"/>
            <a:ext cx="579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Who Is Affected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78D1053-7623-E4F5-FA29-1C25DFBAA6E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9910" y="1752600"/>
            <a:ext cx="4267200" cy="42672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477E5F8-402C-8A98-C72A-A0FFF8205215}"/>
              </a:ext>
            </a:extLst>
          </p:cNvPr>
          <p:cNvSpPr txBox="1"/>
          <p:nvPr/>
        </p:nvSpPr>
        <p:spPr>
          <a:xfrm>
            <a:off x="3810000" y="2943476"/>
            <a:ext cx="63246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Suffer from delays due to the lack of technical terminology and difficulty finding the right repairers.</a:t>
            </a:r>
          </a:p>
          <a:p>
            <a:endParaRPr lang="en-US" sz="1600" dirty="0"/>
          </a:p>
          <a:p>
            <a:r>
              <a:rPr lang="en-US" sz="1600" dirty="0"/>
              <a:t>Although demand was very good, there was difficulty in connecting with homeowners and finding new work.</a:t>
            </a:r>
          </a:p>
          <a:p>
            <a:endParaRPr lang="en-US" sz="1600" dirty="0"/>
          </a:p>
          <a:p>
            <a:r>
              <a:rPr lang="en-US" sz="1600" dirty="0"/>
              <a:t>The local gig economy remains highly informal, unregulated, and inefficient.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5F1CB2-B5C8-E427-8AEC-F454EDE8FBC1}"/>
              </a:ext>
            </a:extLst>
          </p:cNvPr>
          <p:cNvSpPr txBox="1"/>
          <p:nvPr/>
        </p:nvSpPr>
        <p:spPr>
          <a:xfrm>
            <a:off x="2203580" y="2943476"/>
            <a:ext cx="168262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Homeowners    :</a:t>
            </a:r>
          </a:p>
          <a:p>
            <a:endParaRPr lang="en-US" sz="1600" b="1" dirty="0"/>
          </a:p>
          <a:p>
            <a:endParaRPr lang="en-US" sz="1600" b="1" dirty="0"/>
          </a:p>
          <a:p>
            <a:r>
              <a:rPr lang="en-US" sz="1600" b="1" dirty="0"/>
              <a:t>Workers              :</a:t>
            </a:r>
          </a:p>
          <a:p>
            <a:endParaRPr lang="en-US" sz="1600" b="1" dirty="0"/>
          </a:p>
          <a:p>
            <a:endParaRPr lang="en-US" sz="1600" b="1" dirty="0"/>
          </a:p>
          <a:p>
            <a:r>
              <a:rPr lang="en-US" sz="1600" b="1" dirty="0"/>
              <a:t>Societal Impact:</a:t>
            </a:r>
          </a:p>
          <a:p>
            <a:endParaRPr lang="en-US" sz="1600" b="1" dirty="0"/>
          </a:p>
          <a:p>
            <a:endParaRPr lang="en-US" sz="1600" b="1" dirty="0"/>
          </a:p>
          <a:p>
            <a:endParaRPr lang="en-US" sz="1600" b="1" dirty="0"/>
          </a:p>
          <a:p>
            <a:endParaRPr lang="en-US" sz="1600" b="1" dirty="0"/>
          </a:p>
          <a:p>
            <a:endParaRPr lang="en-US" sz="1600" b="1" dirty="0"/>
          </a:p>
          <a:p>
            <a:endParaRPr lang="en-US" sz="1600" b="1" dirty="0"/>
          </a:p>
          <a:p>
            <a:endParaRPr lang="en-US" sz="1600" b="1" dirty="0"/>
          </a:p>
          <a:p>
            <a:endParaRPr lang="en-US" sz="1600" b="1" dirty="0"/>
          </a:p>
          <a:p>
            <a:endParaRPr lang="en-US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F3ABDB-DD19-1E54-891E-64E7995177B5}"/>
              </a:ext>
            </a:extLst>
          </p:cNvPr>
          <p:cNvSpPr txBox="1"/>
          <p:nvPr/>
        </p:nvSpPr>
        <p:spPr>
          <a:xfrm>
            <a:off x="838200" y="669492"/>
            <a:ext cx="32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Real-World Problem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F8F838-7371-FC69-3381-BFF0F218BF2F}"/>
              </a:ext>
            </a:extLst>
          </p:cNvPr>
          <p:cNvSpPr txBox="1"/>
          <p:nvPr/>
        </p:nvSpPr>
        <p:spPr>
          <a:xfrm>
            <a:off x="838199" y="1136915"/>
            <a:ext cx="10744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massive communication and technology gap exists between non-technical homeowners and local blue-collar workers. Existing apps require formal English/technical keywords, creating a "Keyword Barrier."</a:t>
            </a:r>
          </a:p>
        </p:txBody>
      </p:sp>
    </p:spTree>
    <p:extLst>
      <p:ext uri="{BB962C8B-B14F-4D97-AF65-F5344CB8AC3E}">
        <p14:creationId xmlns:p14="http://schemas.microsoft.com/office/powerpoint/2010/main" val="1536312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C3CE0F-07E0-F398-BF4F-47EDEFFF3B31}"/>
              </a:ext>
            </a:extLst>
          </p:cNvPr>
          <p:cNvSpPr txBox="1"/>
          <p:nvPr/>
        </p:nvSpPr>
        <p:spPr>
          <a:xfrm>
            <a:off x="838200" y="603591"/>
            <a:ext cx="7391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Current Platforms  - Sri Lanka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BF658C-759B-F8FF-2D2F-32F34F803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743199"/>
            <a:ext cx="7420309" cy="31704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F16DCE8-10E3-4DCD-AD98-17E2286B3857}"/>
              </a:ext>
            </a:extLst>
          </p:cNvPr>
          <p:cNvSpPr txBox="1"/>
          <p:nvPr/>
        </p:nvSpPr>
        <p:spPr>
          <a:xfrm>
            <a:off x="838200" y="1537572"/>
            <a:ext cx="10239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Ikmal.lk is a Sri Lankan based site. But the Homeowners need  the knowledge in English to search the relevant worker type and need to manually filter the worker through the platform.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B0D7BA-FCAD-95B5-013D-0A1FCB204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0" y="406053"/>
            <a:ext cx="1629109" cy="856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010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1594B5-915E-BE06-E6D8-8A967DA41782}"/>
              </a:ext>
            </a:extLst>
          </p:cNvPr>
          <p:cNvSpPr txBox="1"/>
          <p:nvPr/>
        </p:nvSpPr>
        <p:spPr>
          <a:xfrm>
            <a:off x="762000" y="609600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Current Platforms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914FCA-860F-2CE5-B4A1-5E5AF5E2CC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4" t="4646" r="1943" b="4646"/>
          <a:stretch>
            <a:fillRect/>
          </a:stretch>
        </p:blipFill>
        <p:spPr>
          <a:xfrm>
            <a:off x="6239069" y="228600"/>
            <a:ext cx="5209592" cy="12594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FD2A8A4-585E-A28F-DF11-38869C2513A5}"/>
              </a:ext>
            </a:extLst>
          </p:cNvPr>
          <p:cNvSpPr txBox="1"/>
          <p:nvPr/>
        </p:nvSpPr>
        <p:spPr>
          <a:xfrm>
            <a:off x="838200" y="1511218"/>
            <a:ext cx="10239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TaskRabbit is an Europe and USA based gig platform. They provide a wide range of worker categories. But the homeowner needs to know the name of the worker needed to complete the task.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0F3BDD-026A-20CA-EBA2-C6AFAAA28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0469" y="2590800"/>
            <a:ext cx="8077200" cy="3363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128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2C3019-E0AA-724D-0A33-09E09DA4A6F8}"/>
              </a:ext>
            </a:extLst>
          </p:cNvPr>
          <p:cNvSpPr txBox="1"/>
          <p:nvPr/>
        </p:nvSpPr>
        <p:spPr>
          <a:xfrm>
            <a:off x="681135" y="499744"/>
            <a:ext cx="807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Our Solution: AI-Powered Smart Service Marketplace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7F6299-DF4C-2373-AB77-61EF144961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44" r="23334" b="8889"/>
          <a:stretch>
            <a:fillRect/>
          </a:stretch>
        </p:blipFill>
        <p:spPr>
          <a:xfrm>
            <a:off x="681135" y="1069710"/>
            <a:ext cx="2895600" cy="50518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D2A625-0154-EE9D-9A16-F82ADCA0CE8E}"/>
              </a:ext>
            </a:extLst>
          </p:cNvPr>
          <p:cNvSpPr txBox="1"/>
          <p:nvPr/>
        </p:nvSpPr>
        <p:spPr>
          <a:xfrm>
            <a:off x="3886200" y="137160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Solution Overview: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C95606-B4AC-2EE9-84F5-D5592683D344}"/>
              </a:ext>
            </a:extLst>
          </p:cNvPr>
          <p:cNvSpPr txBox="1"/>
          <p:nvPr/>
        </p:nvSpPr>
        <p:spPr>
          <a:xfrm>
            <a:off x="6091335" y="1360714"/>
            <a:ext cx="586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mobile-first platform that replaces manual searching with an intelligent, end-to-end AI pipeline.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ED474A-B44C-4B17-C971-45068A0851B8}"/>
              </a:ext>
            </a:extLst>
          </p:cNvPr>
          <p:cNvSpPr txBox="1"/>
          <p:nvPr/>
        </p:nvSpPr>
        <p:spPr>
          <a:xfrm>
            <a:off x="3886200" y="2406350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Benefits for Homeowners: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8FF8FF-0CAB-5ABE-30BA-C9B78BF8A843}"/>
              </a:ext>
            </a:extLst>
          </p:cNvPr>
          <p:cNvSpPr txBox="1"/>
          <p:nvPr/>
        </p:nvSpPr>
        <p:spPr>
          <a:xfrm>
            <a:off x="3875314" y="2930063"/>
            <a:ext cx="2144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Frictionless Search:</a:t>
            </a:r>
            <a:endParaRPr 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541429-BCF3-304E-E45B-81EFAD6F612F}"/>
              </a:ext>
            </a:extLst>
          </p:cNvPr>
          <p:cNvSpPr txBox="1"/>
          <p:nvPr/>
        </p:nvSpPr>
        <p:spPr>
          <a:xfrm>
            <a:off x="6019800" y="2922949"/>
            <a:ext cx="586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 technical jargon required; users simply speak or type naturally in Singlish 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2920C7-94B6-4BB1-1B4E-00BC74DD4C41}"/>
              </a:ext>
            </a:extLst>
          </p:cNvPr>
          <p:cNvSpPr txBox="1"/>
          <p:nvPr/>
        </p:nvSpPr>
        <p:spPr>
          <a:xfrm>
            <a:off x="3875314" y="3660553"/>
            <a:ext cx="2144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Verified Trust:</a:t>
            </a:r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510A3B-0AF6-2D10-6653-30B87D8932C7}"/>
              </a:ext>
            </a:extLst>
          </p:cNvPr>
          <p:cNvSpPr txBox="1"/>
          <p:nvPr/>
        </p:nvSpPr>
        <p:spPr>
          <a:xfrm>
            <a:off x="6002694" y="3660553"/>
            <a:ext cx="586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system, recommends the best workers nearby.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370135-2A98-DD50-F8ED-D8BA07337EA0}"/>
              </a:ext>
            </a:extLst>
          </p:cNvPr>
          <p:cNvSpPr txBox="1"/>
          <p:nvPr/>
        </p:nvSpPr>
        <p:spPr>
          <a:xfrm>
            <a:off x="3886200" y="4382869"/>
            <a:ext cx="2144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Transparent Costs:</a:t>
            </a:r>
            <a:endParaRPr 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3FA79D-33C0-71F2-044B-5BCB96C17DD4}"/>
              </a:ext>
            </a:extLst>
          </p:cNvPr>
          <p:cNvSpPr txBox="1"/>
          <p:nvPr/>
        </p:nvSpPr>
        <p:spPr>
          <a:xfrm>
            <a:off x="6002694" y="4382869"/>
            <a:ext cx="586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3-stage dynamic pricing guide prevents overcharging and arguments.</a:t>
            </a:r>
          </a:p>
        </p:txBody>
      </p:sp>
    </p:spTree>
    <p:extLst>
      <p:ext uri="{BB962C8B-B14F-4D97-AF65-F5344CB8AC3E}">
        <p14:creationId xmlns:p14="http://schemas.microsoft.com/office/powerpoint/2010/main" val="1676536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4B6A6D-E9A9-B798-9042-FB0F23BB960E}"/>
              </a:ext>
            </a:extLst>
          </p:cNvPr>
          <p:cNvSpPr txBox="1"/>
          <p:nvPr/>
        </p:nvSpPr>
        <p:spPr>
          <a:xfrm>
            <a:off x="681135" y="499744"/>
            <a:ext cx="807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Our Solution: AI-Powered Smart Service Marketplace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F5CDAE-4CAB-D05D-6F66-7B2BF7617062}"/>
              </a:ext>
            </a:extLst>
          </p:cNvPr>
          <p:cNvSpPr txBox="1"/>
          <p:nvPr/>
        </p:nvSpPr>
        <p:spPr>
          <a:xfrm>
            <a:off x="3886200" y="137160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Solution Overview: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4773B8-3FA4-E9A4-C6A1-2A7D88D9BB5B}"/>
              </a:ext>
            </a:extLst>
          </p:cNvPr>
          <p:cNvSpPr txBox="1"/>
          <p:nvPr/>
        </p:nvSpPr>
        <p:spPr>
          <a:xfrm>
            <a:off x="6091335" y="1360714"/>
            <a:ext cx="586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mobile-first platform that replaces manual searching with an intelligent, end-to-end AI pipeline.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503361-D4AD-EAE2-7030-F4BC69BB06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44" r="23334" b="8889"/>
          <a:stretch>
            <a:fillRect/>
          </a:stretch>
        </p:blipFill>
        <p:spPr>
          <a:xfrm>
            <a:off x="681135" y="1069710"/>
            <a:ext cx="2895600" cy="50518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D84BF1-C0CC-5AE7-AD2C-0BDDB6CBB6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3" r="45556" b="10738"/>
          <a:stretch>
            <a:fillRect/>
          </a:stretch>
        </p:blipFill>
        <p:spPr>
          <a:xfrm>
            <a:off x="706016" y="1069710"/>
            <a:ext cx="2876939" cy="502439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8E5F4B1-CCCD-4AC9-60E9-44870E0236B4}"/>
              </a:ext>
            </a:extLst>
          </p:cNvPr>
          <p:cNvSpPr txBox="1"/>
          <p:nvPr/>
        </p:nvSpPr>
        <p:spPr>
          <a:xfrm>
            <a:off x="3875314" y="2384647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Benefits for Workers: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519865-0519-74E3-CA1A-930959CCBEB7}"/>
              </a:ext>
            </a:extLst>
          </p:cNvPr>
          <p:cNvSpPr txBox="1"/>
          <p:nvPr/>
        </p:nvSpPr>
        <p:spPr>
          <a:xfrm>
            <a:off x="3875314" y="2920100"/>
            <a:ext cx="2373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Targeted Job Pipeline:</a:t>
            </a:r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AF0E5B-54F5-3024-73B3-0C5F38D2CDD6}"/>
              </a:ext>
            </a:extLst>
          </p:cNvPr>
          <p:cNvSpPr txBox="1"/>
          <p:nvPr/>
        </p:nvSpPr>
        <p:spPr>
          <a:xfrm>
            <a:off x="6159759" y="2920100"/>
            <a:ext cx="57958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Workers receive perfectly matched jobs based on their exact skills and real-time location.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DA0CDE-8A6B-08AB-E8D8-0FCE7716CDD1}"/>
              </a:ext>
            </a:extLst>
          </p:cNvPr>
          <p:cNvSpPr txBox="1"/>
          <p:nvPr/>
        </p:nvSpPr>
        <p:spPr>
          <a:xfrm>
            <a:off x="3875314" y="3650583"/>
            <a:ext cx="2449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Zero Marketing Cost:</a:t>
            </a:r>
            <a:endParaRPr 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6D9CB5-0895-6FE0-5ECF-CF93163DE6D6}"/>
              </a:ext>
            </a:extLst>
          </p:cNvPr>
          <p:cNvSpPr txBox="1"/>
          <p:nvPr/>
        </p:nvSpPr>
        <p:spPr>
          <a:xfrm>
            <a:off x="6159759" y="3656540"/>
            <a:ext cx="586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Eliminates the need for freelancers to pay for digital ads or rely on word-of-mouth.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DBF058-3C09-C941-7540-10DCE6AD84D4}"/>
              </a:ext>
            </a:extLst>
          </p:cNvPr>
          <p:cNvSpPr txBox="1"/>
          <p:nvPr/>
        </p:nvSpPr>
        <p:spPr>
          <a:xfrm>
            <a:off x="3886200" y="4378856"/>
            <a:ext cx="2144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Fair Compensation: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CC7223-330F-CDB6-9D62-721B89A6105D}"/>
              </a:ext>
            </a:extLst>
          </p:cNvPr>
          <p:cNvSpPr txBox="1"/>
          <p:nvPr/>
        </p:nvSpPr>
        <p:spPr>
          <a:xfrm>
            <a:off x="6159759" y="4378856"/>
            <a:ext cx="5867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multi-stage fare estimation protects their income by specifically calculating transport and inspection fees before the repair begins.</a:t>
            </a:r>
          </a:p>
        </p:txBody>
      </p:sp>
    </p:spTree>
    <p:extLst>
      <p:ext uri="{BB962C8B-B14F-4D97-AF65-F5344CB8AC3E}">
        <p14:creationId xmlns:p14="http://schemas.microsoft.com/office/powerpoint/2010/main" val="3419105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755AF9-6AEA-4BCA-A1A2-C57A58214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84" y="2505548"/>
            <a:ext cx="10363200" cy="755426"/>
          </a:xfrm>
        </p:spPr>
        <p:txBody>
          <a:bodyPr/>
          <a:lstStyle/>
          <a:p>
            <a:r>
              <a:rPr lang="en-US" dirty="0"/>
              <a:t>IT22551320 | BANDARA W A M 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A91C59-28F0-4A9C-ACA2-19A536A0C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3084" y="3764323"/>
            <a:ext cx="10363200" cy="609599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Intelligent Service Discovery and Intent Recognition System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B98E66-DBD5-4B29-AC68-A58A70C64231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IT22551320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sz="1800" b="1" dirty="0">
                <a:solidFill>
                  <a:schemeClr val="tx1"/>
                </a:solidFill>
              </a:rPr>
              <a:t>Bandara W A M S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b="1" dirty="0">
                <a:solidFill>
                  <a:schemeClr val="tx1"/>
                </a:solidFill>
              </a:rPr>
              <a:t>R26-IT-090</a:t>
            </a: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2B1B0E-3A95-38D8-C68C-389F644DF9F9}"/>
              </a:ext>
            </a:extLst>
          </p:cNvPr>
          <p:cNvSpPr/>
          <p:nvPr/>
        </p:nvSpPr>
        <p:spPr>
          <a:xfrm>
            <a:off x="10134600" y="152400"/>
            <a:ext cx="1981200" cy="2286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E9FF3FF-FB4E-F30C-7868-4E7058825E6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6" t="-638" r="9504" b="638"/>
          <a:stretch>
            <a:fillRect/>
          </a:stretch>
        </p:blipFill>
        <p:spPr>
          <a:xfrm>
            <a:off x="10127550" y="137626"/>
            <a:ext cx="1981200" cy="2315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409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3CDAC6-14FA-C32C-FA55-013B6D35CCD5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IT22551320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sz="1800" b="1" dirty="0">
                <a:solidFill>
                  <a:schemeClr val="tx1"/>
                </a:solidFill>
              </a:rPr>
              <a:t>Bandara W A M S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b="1" dirty="0">
                <a:solidFill>
                  <a:schemeClr val="tx1"/>
                </a:solidFill>
              </a:rPr>
              <a:t>R26-IT-090</a:t>
            </a: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CE4230-E162-F049-103A-8DB6670B02AD}"/>
              </a:ext>
            </a:extLst>
          </p:cNvPr>
          <p:cNvSpPr txBox="1"/>
          <p:nvPr/>
        </p:nvSpPr>
        <p:spPr>
          <a:xfrm>
            <a:off x="2971800" y="11668"/>
            <a:ext cx="70075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tx1"/>
                </a:solidFill>
              </a:rPr>
              <a:t>Intelligent Service Discovery and Intent Recognition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42A82F-E21F-EE9C-2673-DC4D781F5311}"/>
              </a:ext>
            </a:extLst>
          </p:cNvPr>
          <p:cNvSpPr txBox="1"/>
          <p:nvPr/>
        </p:nvSpPr>
        <p:spPr>
          <a:xfrm>
            <a:off x="837235" y="1008927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Problem Definition: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E25C84-8651-4DB5-3C05-BE60BE073599}"/>
              </a:ext>
            </a:extLst>
          </p:cNvPr>
          <p:cNvSpPr txBox="1"/>
          <p:nvPr/>
        </p:nvSpPr>
        <p:spPr>
          <a:xfrm>
            <a:off x="837234" y="1476350"/>
            <a:ext cx="107441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Many homeowners fail to find the right worker to solve their problem because they don't know the relevant "keywords.“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Many people in Sri Lanka lack the ability to write meaningful English sentences.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C0DDBA-69DF-CF0E-823C-185BC64C62CD}"/>
              </a:ext>
            </a:extLst>
          </p:cNvPr>
          <p:cNvSpPr txBox="1"/>
          <p:nvPr/>
        </p:nvSpPr>
        <p:spPr>
          <a:xfrm>
            <a:off x="723900" y="3429000"/>
            <a:ext cx="449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Contribution to the Overall Solution: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C420A7-3D5D-39BB-8891-31377067E061}"/>
              </a:ext>
            </a:extLst>
          </p:cNvPr>
          <p:cNvSpPr txBox="1"/>
          <p:nvPr/>
        </p:nvSpPr>
        <p:spPr>
          <a:xfrm>
            <a:off x="838199" y="4064902"/>
            <a:ext cx="105156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component acts as the "Intelligent Gateway." It translates the user's unstructured symptom description directly into the structured database query required by the rest of the microservices pipeline .</a:t>
            </a:r>
          </a:p>
        </p:txBody>
      </p:sp>
    </p:spTree>
    <p:extLst>
      <p:ext uri="{BB962C8B-B14F-4D97-AF65-F5344CB8AC3E}">
        <p14:creationId xmlns:p14="http://schemas.microsoft.com/office/powerpoint/2010/main" val="35861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9ED0083-48E5-7520-474E-DC3C38511842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IT22551320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sz="1800" b="1" dirty="0">
                <a:solidFill>
                  <a:schemeClr val="tx1"/>
                </a:solidFill>
              </a:rPr>
              <a:t>Bandara W A M S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b="1" dirty="0">
                <a:solidFill>
                  <a:schemeClr val="tx1"/>
                </a:solidFill>
              </a:rPr>
              <a:t>R26-IT-090</a:t>
            </a: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84FEA3-5A41-328B-EA35-FE4A3DE62275}"/>
              </a:ext>
            </a:extLst>
          </p:cNvPr>
          <p:cNvSpPr txBox="1"/>
          <p:nvPr/>
        </p:nvSpPr>
        <p:spPr>
          <a:xfrm>
            <a:off x="2971800" y="11668"/>
            <a:ext cx="70075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tx1"/>
                </a:solidFill>
              </a:rPr>
              <a:t>Intelligent Service Discovery and Intent Recognition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128DF3-7513-612C-4E24-4226BF35B5EC}"/>
              </a:ext>
            </a:extLst>
          </p:cNvPr>
          <p:cNvSpPr txBox="1"/>
          <p:nvPr/>
        </p:nvSpPr>
        <p:spPr>
          <a:xfrm>
            <a:off x="837235" y="1008927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Novelty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A737A3-3665-5336-FD89-13A400D0BF7D}"/>
              </a:ext>
            </a:extLst>
          </p:cNvPr>
          <p:cNvSpPr txBox="1"/>
          <p:nvPr/>
        </p:nvSpPr>
        <p:spPr>
          <a:xfrm>
            <a:off x="837234" y="1476350"/>
            <a:ext cx="10744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first domain-specific Sinhala and English code-mixed (Singlish) NLP classifier for the Sri Lankan domestic service sector, without relying on heavy, expensive global LLMs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046E49-85D1-2BA1-5AA7-3E06E0DFE350}"/>
              </a:ext>
            </a:extLst>
          </p:cNvPr>
          <p:cNvSpPr txBox="1"/>
          <p:nvPr/>
        </p:nvSpPr>
        <p:spPr>
          <a:xfrm>
            <a:off x="837234" y="2667000"/>
            <a:ext cx="449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Research Objectives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46A769-2208-CAAD-A14D-479CE75644A3}"/>
              </a:ext>
            </a:extLst>
          </p:cNvPr>
          <p:cNvSpPr txBox="1"/>
          <p:nvPr/>
        </p:nvSpPr>
        <p:spPr>
          <a:xfrm>
            <a:off x="838199" y="3200400"/>
            <a:ext cx="105156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Main:</a:t>
            </a:r>
            <a:r>
              <a:rPr lang="en-US" dirty="0"/>
              <a:t> Develop a bilingual NLP microservice to accurately classify unstructured maintenance queries.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Sub-objectives:</a:t>
            </a:r>
            <a:r>
              <a:rPr lang="en-US" dirty="0"/>
              <a:t> Synthesize a domain-specific Singlish dataset, engineer custom text-preprocessing filters, and optimize a Support Vector Machine (SVM) classifier.</a:t>
            </a:r>
          </a:p>
        </p:txBody>
      </p:sp>
    </p:spTree>
    <p:extLst>
      <p:ext uri="{BB962C8B-B14F-4D97-AF65-F5344CB8AC3E}">
        <p14:creationId xmlns:p14="http://schemas.microsoft.com/office/powerpoint/2010/main" val="3307868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84813C-9000-191E-9420-1F8F4D265AAC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IT22551320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sz="1800" b="1" dirty="0">
                <a:solidFill>
                  <a:schemeClr val="tx1"/>
                </a:solidFill>
              </a:rPr>
              <a:t>Bandara W A M S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b="1" dirty="0">
                <a:solidFill>
                  <a:schemeClr val="tx1"/>
                </a:solidFill>
              </a:rPr>
              <a:t>R26-IT-090</a:t>
            </a: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7CB489-9836-E367-488A-3FF704F99895}"/>
              </a:ext>
            </a:extLst>
          </p:cNvPr>
          <p:cNvSpPr txBox="1"/>
          <p:nvPr/>
        </p:nvSpPr>
        <p:spPr>
          <a:xfrm>
            <a:off x="2971800" y="11668"/>
            <a:ext cx="70075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tx1"/>
                </a:solidFill>
              </a:rPr>
              <a:t>Intelligent Service Discovery and Intent Recognition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687C75-5EE6-70D3-2946-83D213F439AE}"/>
              </a:ext>
            </a:extLst>
          </p:cNvPr>
          <p:cNvSpPr txBox="1"/>
          <p:nvPr/>
        </p:nvSpPr>
        <p:spPr>
          <a:xfrm>
            <a:off x="837234" y="1371600"/>
            <a:ext cx="2439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Knowledge Domain: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4897BD-24C7-6C5B-E28C-8703383C0C1E}"/>
              </a:ext>
            </a:extLst>
          </p:cNvPr>
          <p:cNvSpPr txBox="1"/>
          <p:nvPr/>
        </p:nvSpPr>
        <p:spPr>
          <a:xfrm>
            <a:off x="1676401" y="1740932"/>
            <a:ext cx="891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Natural Language Processing (NLP) &amp; Statistical Machine Learning.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D58EA1-E5BB-F589-DE9B-1EC98AA6E974}"/>
              </a:ext>
            </a:extLst>
          </p:cNvPr>
          <p:cNvSpPr txBox="1"/>
          <p:nvPr/>
        </p:nvSpPr>
        <p:spPr>
          <a:xfrm>
            <a:off x="837234" y="2133600"/>
            <a:ext cx="3353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Specific Technologies Utilized: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A7CB6D-938C-3531-0F75-2155C0FF8036}"/>
              </a:ext>
            </a:extLst>
          </p:cNvPr>
          <p:cNvSpPr txBox="1"/>
          <p:nvPr/>
        </p:nvSpPr>
        <p:spPr>
          <a:xfrm>
            <a:off x="1676401" y="2491843"/>
            <a:ext cx="96783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Fast Text Sub-word Vectorization:</a:t>
            </a:r>
            <a:r>
              <a:rPr lang="en-US" dirty="0"/>
              <a:t> Chosen specifically to handle Out-Of-Vocabulary (OOV) phonetic spelling errors in Singlish.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Support Vector Machines (SVM):</a:t>
            </a:r>
            <a:r>
              <a:rPr lang="en-US" dirty="0"/>
              <a:t> Optimized for sparse, high-dimensional text arrays with lower computational overhead than deep learning.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794B49-2744-19B0-8C63-BDCC8DB7E41D}"/>
              </a:ext>
            </a:extLst>
          </p:cNvPr>
          <p:cNvSpPr txBox="1"/>
          <p:nvPr/>
        </p:nvSpPr>
        <p:spPr>
          <a:xfrm>
            <a:off x="837234" y="3733800"/>
            <a:ext cx="3353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Validation &amp; Evaluation: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53E6A7-E42E-6332-3CDC-66A648E4238C}"/>
              </a:ext>
            </a:extLst>
          </p:cNvPr>
          <p:cNvSpPr txBox="1"/>
          <p:nvPr/>
        </p:nvSpPr>
        <p:spPr>
          <a:xfrm>
            <a:off x="1676400" y="4103132"/>
            <a:ext cx="96783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Primary Metric: </a:t>
            </a:r>
            <a:r>
              <a:rPr lang="en-US" b="1" dirty="0"/>
              <a:t>F1 - Score</a:t>
            </a:r>
            <a:r>
              <a:rPr lang="en-US" dirty="0"/>
              <a:t> (to ensure accurate evaluation across imbalanced worker categories)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C6B761-D23C-7A61-3F9B-FC80D7FF530F}"/>
              </a:ext>
            </a:extLst>
          </p:cNvPr>
          <p:cNvSpPr txBox="1"/>
          <p:nvPr/>
        </p:nvSpPr>
        <p:spPr>
          <a:xfrm>
            <a:off x="819872" y="4800600"/>
            <a:ext cx="3353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 Availability &amp; Ethics: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13C200-E432-DD8E-6DF8-705FDA6AA2E0}"/>
              </a:ext>
            </a:extLst>
          </p:cNvPr>
          <p:cNvSpPr txBox="1"/>
          <p:nvPr/>
        </p:nvSpPr>
        <p:spPr>
          <a:xfrm>
            <a:off x="1693763" y="5169932"/>
            <a:ext cx="96783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Synthesized custom Singlish dataset via crowdsourcing. Strict PII (Personally Identifiable Information) scrubbing prior to training ensures data privacy.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FC6EB7-750F-1427-EF09-2B67C7E5A6C8}"/>
              </a:ext>
            </a:extLst>
          </p:cNvPr>
          <p:cNvSpPr txBox="1"/>
          <p:nvPr/>
        </p:nvSpPr>
        <p:spPr>
          <a:xfrm>
            <a:off x="839163" y="759978"/>
            <a:ext cx="5256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Knowledge &amp; Validation</a:t>
            </a:r>
          </a:p>
        </p:txBody>
      </p:sp>
    </p:spTree>
    <p:extLst>
      <p:ext uri="{BB962C8B-B14F-4D97-AF65-F5344CB8AC3E}">
        <p14:creationId xmlns:p14="http://schemas.microsoft.com/office/powerpoint/2010/main" val="3867772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151453-74A2-CC97-DC34-0D0A2276BE2B}"/>
              </a:ext>
            </a:extLst>
          </p:cNvPr>
          <p:cNvSpPr txBox="1"/>
          <p:nvPr/>
        </p:nvSpPr>
        <p:spPr>
          <a:xfrm>
            <a:off x="2971800" y="11668"/>
            <a:ext cx="70075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tx1"/>
                </a:solidFill>
              </a:rPr>
              <a:t>Intelligent Service Discovery and Intent Recognition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AE07DD-4D4C-3C32-1785-A70BE186CFD7}"/>
              </a:ext>
            </a:extLst>
          </p:cNvPr>
          <p:cNvSpPr txBox="1"/>
          <p:nvPr/>
        </p:nvSpPr>
        <p:spPr>
          <a:xfrm>
            <a:off x="837234" y="1008927"/>
            <a:ext cx="4725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Implementation Details &amp; Dependencies: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F9C5A1-DF44-FBE1-8F2E-E3202F698696}"/>
              </a:ext>
            </a:extLst>
          </p:cNvPr>
          <p:cNvSpPr txBox="1"/>
          <p:nvPr/>
        </p:nvSpPr>
        <p:spPr>
          <a:xfrm>
            <a:off x="837234" y="1476350"/>
            <a:ext cx="107441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Many homeowners fail to find the right worker to solve their problem because they don't know the relevant "keywords.“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Many people in Sri Lanka lack the ability to write meaningful English sentences.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C10025-17AB-7212-2E41-865D74AA747D}"/>
              </a:ext>
            </a:extLst>
          </p:cNvPr>
          <p:cNvSpPr txBox="1"/>
          <p:nvPr/>
        </p:nvSpPr>
        <p:spPr>
          <a:xfrm>
            <a:off x="723900" y="3429000"/>
            <a:ext cx="449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Contribution to the Overall Solution: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50771E-C24D-F7E5-298E-24C7463601A9}"/>
              </a:ext>
            </a:extLst>
          </p:cNvPr>
          <p:cNvSpPr txBox="1"/>
          <p:nvPr/>
        </p:nvSpPr>
        <p:spPr>
          <a:xfrm>
            <a:off x="838199" y="4064902"/>
            <a:ext cx="105156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component acts as the "Intelligent Gateway." It translates the user's unstructured symptom description directly into the structured database query required by the rest of the microservices pipeline 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5E22A7-FF0C-A242-B971-744E7AC04CBD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IT22551320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sz="1800" b="1" dirty="0">
                <a:solidFill>
                  <a:schemeClr val="tx1"/>
                </a:solidFill>
              </a:rPr>
              <a:t>Bandara W A M S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b="1" dirty="0">
                <a:solidFill>
                  <a:schemeClr val="tx1"/>
                </a:solidFill>
              </a:rPr>
              <a:t>R26-IT-090</a:t>
            </a:r>
            <a:endParaRPr lang="en-US" sz="1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4897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F7D324-CF40-4793-9663-6FFD0D6B6430}"/>
              </a:ext>
            </a:extLst>
          </p:cNvPr>
          <p:cNvSpPr txBox="1"/>
          <p:nvPr/>
        </p:nvSpPr>
        <p:spPr>
          <a:xfrm>
            <a:off x="2971800" y="11668"/>
            <a:ext cx="70075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tx1"/>
                </a:solidFill>
              </a:rPr>
              <a:t>Intelligent Service Discovery and Intent Recognition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62125A-1DB1-425F-E60E-E0DE4931AA15}"/>
              </a:ext>
            </a:extLst>
          </p:cNvPr>
          <p:cNvSpPr txBox="1"/>
          <p:nvPr/>
        </p:nvSpPr>
        <p:spPr>
          <a:xfrm>
            <a:off x="837234" y="1008927"/>
            <a:ext cx="4725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System Overview: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8B7F13-3D91-C95A-B916-EF13D224FA58}"/>
              </a:ext>
            </a:extLst>
          </p:cNvPr>
          <p:cNvSpPr txBox="1"/>
          <p:nvPr/>
        </p:nvSpPr>
        <p:spPr>
          <a:xfrm>
            <a:off x="837234" y="1476350"/>
            <a:ext cx="107441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Operates as an independent, stateless RESTful microservice.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Input:</a:t>
            </a:r>
            <a:r>
              <a:rPr lang="en-US" dirty="0"/>
              <a:t> Raw conversational text strings via HTTP POST requests.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Process:</a:t>
            </a:r>
            <a:r>
              <a:rPr lang="en-US" dirty="0"/>
              <a:t> Executes text preprocessing, </a:t>
            </a:r>
            <a:r>
              <a:rPr lang="en-US" dirty="0" err="1"/>
              <a:t>FastText</a:t>
            </a:r>
            <a:r>
              <a:rPr lang="en-US" dirty="0"/>
              <a:t> vectorization, and SVM intent classification.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Output:</a:t>
            </a:r>
            <a:r>
              <a:rPr lang="en-US" dirty="0"/>
              <a:t> Returns a structured JSON payload identifying the Main Category (e.g., Plumber) and Subcategory (e.g., </a:t>
            </a:r>
            <a:r>
              <a:rPr lang="en-US" dirty="0" err="1"/>
              <a:t>PipeRepair</a:t>
            </a:r>
            <a:r>
              <a:rPr lang="en-US" dirty="0"/>
              <a:t>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A03E15-00A3-11CB-6E63-AB32D5C1E335}"/>
              </a:ext>
            </a:extLst>
          </p:cNvPr>
          <p:cNvSpPr txBox="1"/>
          <p:nvPr/>
        </p:nvSpPr>
        <p:spPr>
          <a:xfrm>
            <a:off x="837234" y="3127915"/>
            <a:ext cx="449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Dependencies &amp; Common Components: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B6C1D1-C9AD-F3E9-4A92-93F942455FE9}"/>
              </a:ext>
            </a:extLst>
          </p:cNvPr>
          <p:cNvSpPr txBox="1"/>
          <p:nvPr/>
        </p:nvSpPr>
        <p:spPr>
          <a:xfrm>
            <a:off x="782816" y="3702399"/>
            <a:ext cx="1051560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Specific Dependencies:</a:t>
            </a:r>
            <a:r>
              <a:rPr lang="en-US" dirty="0"/>
              <a:t> Python 3.x, </a:t>
            </a:r>
            <a:r>
              <a:rPr lang="en-US" dirty="0" err="1"/>
              <a:t>FastAPI</a:t>
            </a:r>
            <a:r>
              <a:rPr lang="en-US" dirty="0"/>
              <a:t> (server framework), Scikit-Learn (machine learning execution), and NLP libraries (e.g., NLTK/Spacy).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Common System Components:</a:t>
            </a:r>
          </a:p>
          <a:p>
            <a:r>
              <a:rPr lang="en-US" b="1" i="1" dirty="0"/>
              <a:t>	</a:t>
            </a:r>
            <a:r>
              <a:rPr lang="en-US" i="1" dirty="0"/>
              <a:t>Node.js API Gateway:</a:t>
            </a:r>
            <a:r>
              <a:rPr lang="en-US" dirty="0"/>
              <a:t>  Acts as the central orchestrator routing requests to this component.</a:t>
            </a:r>
          </a:p>
          <a:p>
            <a:endParaRPr lang="en-US" dirty="0"/>
          </a:p>
          <a:p>
            <a:r>
              <a:rPr lang="en-US" i="1" dirty="0"/>
              <a:t>	MongoDB:</a:t>
            </a:r>
            <a:r>
              <a:rPr lang="en-US" dirty="0"/>
              <a:t>  The central database where the structured service request is ultimately stored for the 			Recommendation Engine to use.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8EA136-0D6C-63C3-0D56-E79E9BED9092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IT22551320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sz="1800" b="1" dirty="0">
                <a:solidFill>
                  <a:schemeClr val="tx1"/>
                </a:solidFill>
              </a:rPr>
              <a:t>Bandara W A M S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b="1" dirty="0">
                <a:solidFill>
                  <a:schemeClr val="tx1"/>
                </a:solidFill>
              </a:rPr>
              <a:t>R26-IT-090</a:t>
            </a:r>
            <a:endParaRPr lang="en-US" sz="1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99053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111494C0-9A72-368A-F185-8C1FA40F0297}"/>
              </a:ext>
            </a:extLst>
          </p:cNvPr>
          <p:cNvSpPr txBox="1">
            <a:spLocks/>
          </p:cNvSpPr>
          <p:nvPr/>
        </p:nvSpPr>
        <p:spPr>
          <a:xfrm>
            <a:off x="-228600" y="2514600"/>
            <a:ext cx="10363200" cy="755426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 b="1" dirty="0"/>
              <a:t>IT22283658 | SHIWANTHIKA M.M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4F9B4D80-5A57-71EF-7DF4-BD4D6804A781}"/>
              </a:ext>
            </a:extLst>
          </p:cNvPr>
          <p:cNvSpPr txBox="1">
            <a:spLocks/>
          </p:cNvSpPr>
          <p:nvPr/>
        </p:nvSpPr>
        <p:spPr>
          <a:xfrm>
            <a:off x="963084" y="3764323"/>
            <a:ext cx="10363200" cy="609599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Worker Recommendation Engine</a:t>
            </a: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7577B-26D8-99A0-4CBA-9F0887B01A5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4600" y="152400"/>
            <a:ext cx="1981200" cy="2286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1F98621-AF49-0B6A-9F95-B7B52CFCED9D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IT22283658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b="1" dirty="0" err="1">
                <a:solidFill>
                  <a:schemeClr val="tx1"/>
                </a:solidFill>
              </a:rPr>
              <a:t>Shiwanthika</a:t>
            </a:r>
            <a:r>
              <a:rPr lang="en-US" b="1" dirty="0">
                <a:solidFill>
                  <a:schemeClr val="tx1"/>
                </a:solidFill>
              </a:rPr>
              <a:t> M </a:t>
            </a:r>
            <a:r>
              <a:rPr lang="en-US" b="1" dirty="0" err="1">
                <a:solidFill>
                  <a:schemeClr val="tx1"/>
                </a:solidFill>
              </a:rPr>
              <a:t>M</a:t>
            </a:r>
            <a:r>
              <a:rPr lang="en-US" sz="1800" b="1" dirty="0">
                <a:solidFill>
                  <a:schemeClr val="tx1"/>
                </a:solidFill>
              </a:rPr>
              <a:t>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b="1" dirty="0">
                <a:solidFill>
                  <a:schemeClr val="tx1"/>
                </a:solidFill>
              </a:rPr>
              <a:t>R26-IT-090</a:t>
            </a:r>
            <a:endParaRPr lang="en-US" sz="1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64590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FDBAF5-082F-7479-C08C-AEE50E00C686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IT22283658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b="1" dirty="0" err="1">
                <a:solidFill>
                  <a:schemeClr val="tx1"/>
                </a:solidFill>
              </a:rPr>
              <a:t>Shiwanthika</a:t>
            </a:r>
            <a:r>
              <a:rPr lang="en-US" b="1" dirty="0">
                <a:solidFill>
                  <a:schemeClr val="tx1"/>
                </a:solidFill>
              </a:rPr>
              <a:t> M </a:t>
            </a:r>
            <a:r>
              <a:rPr lang="en-US" b="1" dirty="0" err="1">
                <a:solidFill>
                  <a:schemeClr val="tx1"/>
                </a:solidFill>
              </a:rPr>
              <a:t>M</a:t>
            </a:r>
            <a:r>
              <a:rPr lang="en-US" sz="1800" b="1" dirty="0">
                <a:solidFill>
                  <a:schemeClr val="tx1"/>
                </a:solidFill>
              </a:rPr>
              <a:t>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b="1" dirty="0">
                <a:solidFill>
                  <a:schemeClr val="tx1"/>
                </a:solidFill>
              </a:rPr>
              <a:t>R26-IT-090</a:t>
            </a: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3EC952-F13E-5595-6CB4-6D8C7B90E89B}"/>
              </a:ext>
            </a:extLst>
          </p:cNvPr>
          <p:cNvSpPr txBox="1"/>
          <p:nvPr/>
        </p:nvSpPr>
        <p:spPr>
          <a:xfrm>
            <a:off x="4037633" y="81648"/>
            <a:ext cx="4343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Worker Recommendation Engine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94634D-1207-CBCB-043F-CA82E67B63EF}"/>
              </a:ext>
            </a:extLst>
          </p:cNvPr>
          <p:cNvSpPr txBox="1"/>
          <p:nvPr/>
        </p:nvSpPr>
        <p:spPr>
          <a:xfrm>
            <a:off x="837235" y="1008927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Problem Definition: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B6AD9B-BA53-97AD-B8B7-028D9994A97A}"/>
              </a:ext>
            </a:extLst>
          </p:cNvPr>
          <p:cNvSpPr txBox="1"/>
          <p:nvPr/>
        </p:nvSpPr>
        <p:spPr>
          <a:xfrm>
            <a:off x="837234" y="1476350"/>
            <a:ext cx="107441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</a:t>
            </a:r>
            <a:r>
              <a:rPr lang="en-SG" dirty="0" err="1"/>
              <a:t>sers</a:t>
            </a:r>
            <a:r>
              <a:rPr lang="en-SG" dirty="0"/>
              <a:t> quickly find the most suitable worker.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They may spend a lot of time calling different people, checking reviews, or asking friends.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Sometimes they choose workers who are far away, unavailable, or do not have the correct skills.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3237E1-7D5C-DD1D-2633-AF828B74D8E8}"/>
              </a:ext>
            </a:extLst>
          </p:cNvPr>
          <p:cNvSpPr txBox="1"/>
          <p:nvPr/>
        </p:nvSpPr>
        <p:spPr>
          <a:xfrm>
            <a:off x="723900" y="3429000"/>
            <a:ext cx="449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Contribution to the Overall Solution: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376E69-A6B0-5FFA-E57F-635DD5F0CEB3}"/>
              </a:ext>
            </a:extLst>
          </p:cNvPr>
          <p:cNvSpPr txBox="1"/>
          <p:nvPr/>
        </p:nvSpPr>
        <p:spPr>
          <a:xfrm>
            <a:off x="838199" y="4064902"/>
            <a:ext cx="105156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Intelligent Worker Recommendation Engine contributes by analyzing user requests, predicting worker suitability, and ranking them using real-time factors, enabling fast, accurate, and reliable household service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24028051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BC6AD89-E0EB-BD01-7CD8-18FFF06D728B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IT22283658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b="1" dirty="0" err="1">
                <a:solidFill>
                  <a:schemeClr val="tx1"/>
                </a:solidFill>
              </a:rPr>
              <a:t>Shiwanthika</a:t>
            </a:r>
            <a:r>
              <a:rPr lang="en-US" b="1" dirty="0">
                <a:solidFill>
                  <a:schemeClr val="tx1"/>
                </a:solidFill>
              </a:rPr>
              <a:t> M </a:t>
            </a:r>
            <a:r>
              <a:rPr lang="en-US" b="1" dirty="0" err="1">
                <a:solidFill>
                  <a:schemeClr val="tx1"/>
                </a:solidFill>
              </a:rPr>
              <a:t>M</a:t>
            </a:r>
            <a:r>
              <a:rPr lang="en-US" sz="1800" b="1" dirty="0">
                <a:solidFill>
                  <a:schemeClr val="tx1"/>
                </a:solidFill>
              </a:rPr>
              <a:t>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b="1" dirty="0">
                <a:solidFill>
                  <a:schemeClr val="tx1"/>
                </a:solidFill>
              </a:rPr>
              <a:t>R26-IT-090</a:t>
            </a: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CDB6EB-426C-458D-AE62-DD2B433F8D83}"/>
              </a:ext>
            </a:extLst>
          </p:cNvPr>
          <p:cNvSpPr txBox="1"/>
          <p:nvPr/>
        </p:nvSpPr>
        <p:spPr>
          <a:xfrm>
            <a:off x="4037633" y="81648"/>
            <a:ext cx="4343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Worker Recommendation Engine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CD8BA6-CE13-A2CB-7F86-2377C79AA7AD}"/>
              </a:ext>
            </a:extLst>
          </p:cNvPr>
          <p:cNvSpPr txBox="1"/>
          <p:nvPr/>
        </p:nvSpPr>
        <p:spPr>
          <a:xfrm>
            <a:off x="837235" y="1008927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Novelty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89ADA5-C4F0-CE6C-9E32-CCC34C279176}"/>
              </a:ext>
            </a:extLst>
          </p:cNvPr>
          <p:cNvSpPr txBox="1"/>
          <p:nvPr/>
        </p:nvSpPr>
        <p:spPr>
          <a:xfrm>
            <a:off x="837234" y="1476350"/>
            <a:ext cx="107441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First, a machine learning model such as Random Forest can predict how suitable a worker is based on past data. Then a multi-criteria scoring model ranks workers using real-time factors like distance, availability, and ratings.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58D1D1-F890-EA98-BAE5-25D30D947D52}"/>
              </a:ext>
            </a:extLst>
          </p:cNvPr>
          <p:cNvSpPr txBox="1"/>
          <p:nvPr/>
        </p:nvSpPr>
        <p:spPr>
          <a:xfrm>
            <a:off x="837234" y="2667000"/>
            <a:ext cx="449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Research Objectives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729262-DBF0-9F03-AC3B-7DFACFB8619E}"/>
              </a:ext>
            </a:extLst>
          </p:cNvPr>
          <p:cNvSpPr txBox="1"/>
          <p:nvPr/>
        </p:nvSpPr>
        <p:spPr>
          <a:xfrm>
            <a:off x="838199" y="3200400"/>
            <a:ext cx="105156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Main:</a:t>
            </a:r>
            <a:r>
              <a:rPr lang="en-US" dirty="0"/>
              <a:t> To develop an intelligent worker recommendation engine that helps users find the most suitable household service workers efficiently.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Sub-objectives: C</a:t>
            </a:r>
            <a:r>
              <a:rPr lang="en-US" dirty="0"/>
              <a:t>ollect and manage worker profile data such as skills, experience, ratings, and availability, Analyze user service requests and identify the required service type.</a:t>
            </a:r>
          </a:p>
        </p:txBody>
      </p:sp>
    </p:spTree>
    <p:extLst>
      <p:ext uri="{BB962C8B-B14F-4D97-AF65-F5344CB8AC3E}">
        <p14:creationId xmlns:p14="http://schemas.microsoft.com/office/powerpoint/2010/main" val="8225828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644542-F735-B555-E04E-0CC7F170576A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IT22283658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sz="1800" b="1" dirty="0" err="1">
                <a:solidFill>
                  <a:schemeClr val="tx1"/>
                </a:solidFill>
              </a:rPr>
              <a:t>Shiwanthika</a:t>
            </a:r>
            <a:r>
              <a:rPr lang="en-US" sz="1800" b="1" dirty="0">
                <a:solidFill>
                  <a:schemeClr val="tx1"/>
                </a:solidFill>
              </a:rPr>
              <a:t> M </a:t>
            </a:r>
            <a:r>
              <a:rPr lang="en-US" sz="1800" b="1" dirty="0" err="1">
                <a:solidFill>
                  <a:schemeClr val="tx1"/>
                </a:solidFill>
              </a:rPr>
              <a:t>M</a:t>
            </a:r>
            <a:r>
              <a:rPr lang="en-US" sz="1800" b="1" dirty="0">
                <a:solidFill>
                  <a:schemeClr val="tx1"/>
                </a:solidFill>
              </a:rPr>
              <a:t>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b="1" dirty="0">
                <a:solidFill>
                  <a:schemeClr val="tx1"/>
                </a:solidFill>
              </a:rPr>
              <a:t>R26-IT-090</a:t>
            </a: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DB595B-ED46-1F27-C8A5-9768A807E438}"/>
              </a:ext>
            </a:extLst>
          </p:cNvPr>
          <p:cNvSpPr txBox="1"/>
          <p:nvPr/>
        </p:nvSpPr>
        <p:spPr>
          <a:xfrm>
            <a:off x="4037633" y="81648"/>
            <a:ext cx="4343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Worker Recommendation Engine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6AAD5A-4CB7-3501-E186-E5A1446D1197}"/>
              </a:ext>
            </a:extLst>
          </p:cNvPr>
          <p:cNvSpPr txBox="1"/>
          <p:nvPr/>
        </p:nvSpPr>
        <p:spPr>
          <a:xfrm>
            <a:off x="837234" y="1008927"/>
            <a:ext cx="3658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Domain Knowledge &amp; Validation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730018-7D94-2ADB-3842-640A72C5991E}"/>
              </a:ext>
            </a:extLst>
          </p:cNvPr>
          <p:cNvSpPr txBox="1"/>
          <p:nvPr/>
        </p:nvSpPr>
        <p:spPr>
          <a:xfrm>
            <a:off x="837234" y="1476350"/>
            <a:ext cx="107441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Domain Knowledge:</a:t>
            </a:r>
            <a:r>
              <a:rPr lang="en-US" dirty="0"/>
              <a:t> Understanding the household service field and identifying key factors such as worker skills, experience, ratings, distance, and availability.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Validation:</a:t>
            </a:r>
            <a:r>
              <a:rPr lang="en-US" dirty="0"/>
              <a:t> Testing the system to ensure worker recommendations are accurate, reliable, and useful for users.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DD0C94-F64F-013A-4AD1-B841362E889A}"/>
              </a:ext>
            </a:extLst>
          </p:cNvPr>
          <p:cNvSpPr txBox="1"/>
          <p:nvPr/>
        </p:nvSpPr>
        <p:spPr>
          <a:xfrm>
            <a:off x="837234" y="3390011"/>
            <a:ext cx="106689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tx1"/>
                </a:solidFill>
              </a:rPr>
              <a:t>Research Methodology</a:t>
            </a:r>
            <a:br>
              <a:rPr lang="en-US" sz="1800" b="1" dirty="0">
                <a:solidFill>
                  <a:schemeClr val="tx1"/>
                </a:solidFill>
              </a:rPr>
            </a:br>
            <a:endParaRPr lang="en-US" sz="1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 household service domain guides the methodology by identifying key features like skills, experience, ratings, availability, and distance for accurate worker recommendations.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49435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376C29-AF1E-5F19-714F-5A65E41A0FE5}"/>
              </a:ext>
            </a:extLst>
          </p:cNvPr>
          <p:cNvSpPr txBox="1"/>
          <p:nvPr/>
        </p:nvSpPr>
        <p:spPr>
          <a:xfrm>
            <a:off x="4037633" y="81648"/>
            <a:ext cx="4343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Worker Recommendation Engine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708C9D-26EC-3119-BC80-1F0EB39FF21D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IT22283658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sz="1800" b="1" dirty="0" err="1">
                <a:solidFill>
                  <a:schemeClr val="tx1"/>
                </a:solidFill>
              </a:rPr>
              <a:t>Shiwanthika</a:t>
            </a:r>
            <a:r>
              <a:rPr lang="en-US" sz="1800" b="1" dirty="0">
                <a:solidFill>
                  <a:schemeClr val="tx1"/>
                </a:solidFill>
              </a:rPr>
              <a:t> M </a:t>
            </a:r>
            <a:r>
              <a:rPr lang="en-US" sz="1800" b="1" dirty="0" err="1">
                <a:solidFill>
                  <a:schemeClr val="tx1"/>
                </a:solidFill>
              </a:rPr>
              <a:t>M</a:t>
            </a:r>
            <a:r>
              <a:rPr lang="en-US" sz="1800" b="1" dirty="0">
                <a:solidFill>
                  <a:schemeClr val="tx1"/>
                </a:solidFill>
              </a:rPr>
              <a:t>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b="1" dirty="0">
                <a:solidFill>
                  <a:schemeClr val="tx1"/>
                </a:solidFill>
              </a:rPr>
              <a:t>R26-IT-090</a:t>
            </a: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79CB9E94-27FE-82B7-A023-DC2E3CD127A9}"/>
              </a:ext>
            </a:extLst>
          </p:cNvPr>
          <p:cNvSpPr txBox="1">
            <a:spLocks/>
          </p:cNvSpPr>
          <p:nvPr/>
        </p:nvSpPr>
        <p:spPr>
          <a:xfrm>
            <a:off x="914400" y="838200"/>
            <a:ext cx="10363200" cy="4952999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/>
              <a:t>What specific Latest Technology/Technologies  in that Domain are utilized to develop the proposed solution</a:t>
            </a:r>
            <a:br>
              <a:rPr lang="en-US" sz="1800" b="1"/>
            </a:br>
            <a:endParaRPr lang="en-US" sz="1800" b="1"/>
          </a:p>
          <a:p>
            <a:r>
              <a:rPr lang="en-US" sz="1800"/>
              <a:t>Machine Learning (Random Forest), real-time data processing, and hybrid recommendation systems are used to predict and rank suitable workers.</a:t>
            </a:r>
            <a:br>
              <a:rPr lang="en-US"/>
            </a:br>
            <a:endParaRPr lang="en-US"/>
          </a:p>
          <a:p>
            <a:r>
              <a:rPr lang="en-US" sz="1800" b="1"/>
              <a:t>How to Validate and Evaluate the Proposed Solution </a:t>
            </a:r>
            <a:br>
              <a:rPr lang="en-US" sz="1800" b="1"/>
            </a:br>
            <a:endParaRPr lang="en-US" sz="1800" b="1"/>
          </a:p>
          <a:p>
            <a:pPr marL="285750" indent="-285750"/>
            <a:r>
              <a:rPr lang="en-US" sz="1800"/>
              <a:t>The system is tested using sample data and user requests, measuring accuracy, relevance, and user feedback.</a:t>
            </a:r>
            <a:br>
              <a:rPr lang="en-US" sz="1800"/>
            </a:br>
            <a:endParaRPr lang="en-US" sz="1800"/>
          </a:p>
          <a:p>
            <a:r>
              <a:rPr lang="en-US" sz="1800" b="1"/>
              <a:t>Data Availability, Security and Ethical Clearance</a:t>
            </a:r>
            <a:br>
              <a:rPr lang="en-US" sz="1800" b="1"/>
            </a:br>
            <a:endParaRPr lang="en-US" sz="1800" b="1"/>
          </a:p>
          <a:p>
            <a:pPr marL="285750" indent="-285750"/>
            <a:r>
              <a:rPr lang="en-US" sz="1800"/>
              <a:t>Worker data is collected from verified sources while ensuring data privacy, security, and ethical use of user and worker information.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5561603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0253503-58F2-D6BA-F8BC-6FEC96D5D30A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IT22283658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sz="1800" b="1" dirty="0" err="1">
                <a:solidFill>
                  <a:schemeClr val="tx1"/>
                </a:solidFill>
              </a:rPr>
              <a:t>Shiwanthika</a:t>
            </a:r>
            <a:r>
              <a:rPr lang="en-US" sz="1800" b="1" dirty="0">
                <a:solidFill>
                  <a:schemeClr val="tx1"/>
                </a:solidFill>
              </a:rPr>
              <a:t> M </a:t>
            </a:r>
            <a:r>
              <a:rPr lang="en-US" sz="1800" b="1" dirty="0" err="1">
                <a:solidFill>
                  <a:schemeClr val="tx1"/>
                </a:solidFill>
              </a:rPr>
              <a:t>M</a:t>
            </a:r>
            <a:r>
              <a:rPr lang="en-US" sz="1800" b="1" dirty="0">
                <a:solidFill>
                  <a:schemeClr val="tx1"/>
                </a:solidFill>
              </a:rPr>
              <a:t>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b="1" dirty="0">
                <a:solidFill>
                  <a:schemeClr val="tx1"/>
                </a:solidFill>
              </a:rPr>
              <a:t>R26-IT-090</a:t>
            </a: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CC1044-F2B9-5EF9-E2C9-95C5E6027665}"/>
              </a:ext>
            </a:extLst>
          </p:cNvPr>
          <p:cNvSpPr txBox="1"/>
          <p:nvPr/>
        </p:nvSpPr>
        <p:spPr>
          <a:xfrm>
            <a:off x="4037633" y="81648"/>
            <a:ext cx="4343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Worker Recommendation Engine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2AF42E49-B47F-0F70-C11D-2025CBF60F53}"/>
              </a:ext>
            </a:extLst>
          </p:cNvPr>
          <p:cNvSpPr txBox="1">
            <a:spLocks/>
          </p:cNvSpPr>
          <p:nvPr/>
        </p:nvSpPr>
        <p:spPr>
          <a:xfrm>
            <a:off x="859017" y="1219200"/>
            <a:ext cx="10363200" cy="3886199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/>
              <a:t>Implementation Details</a:t>
            </a:r>
            <a:br>
              <a:rPr lang="en-US" sz="2800"/>
            </a:br>
            <a:endParaRPr lang="en-US" sz="2800"/>
          </a:p>
          <a:p>
            <a:r>
              <a:rPr lang="en-US" sz="1800" b="1"/>
              <a:t>System Overview of the Individual Component</a:t>
            </a:r>
            <a:br>
              <a:rPr lang="en-US" sz="1800" b="1"/>
            </a:br>
            <a:endParaRPr lang="en-US" sz="1800" b="1"/>
          </a:p>
          <a:p>
            <a:pPr marL="285750" indent="-285750"/>
            <a:r>
              <a:rPr lang="en-US" sz="1800"/>
              <a:t>The engine depends on the worker database, user interface, ML library (Random Forest), scoring module, and backend framework for processing and integration.</a:t>
            </a:r>
          </a:p>
          <a:p>
            <a:endParaRPr lang="en-US" sz="1800" b="1"/>
          </a:p>
          <a:p>
            <a:r>
              <a:rPr lang="en-US" sz="1800" b="1"/>
              <a:t>Dependencies and common components </a:t>
            </a:r>
            <a:br>
              <a:rPr lang="en-US" sz="1800" b="1"/>
            </a:br>
            <a:endParaRPr lang="en-US" sz="1800" b="1"/>
          </a:p>
          <a:p>
            <a:pPr marL="285750" indent="-285750"/>
            <a:r>
              <a:rPr lang="en-SG" sz="1800"/>
              <a:t>Worker Database, User Interface, Machine Learning Library, Scoring Module, Backend Framework</a:t>
            </a:r>
          </a:p>
          <a:p>
            <a:endParaRPr lang="en-SG" sz="1800" b="1"/>
          </a:p>
          <a:p>
            <a:endParaRPr lang="en-SG" sz="1800" b="1"/>
          </a:p>
          <a:p>
            <a:endParaRPr lang="en-US" sz="1800" b="1"/>
          </a:p>
          <a:p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31475985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C700CE50-FEBA-87DE-0F60-8D0EB5725047}"/>
              </a:ext>
            </a:extLst>
          </p:cNvPr>
          <p:cNvSpPr txBox="1">
            <a:spLocks/>
          </p:cNvSpPr>
          <p:nvPr/>
        </p:nvSpPr>
        <p:spPr>
          <a:xfrm>
            <a:off x="-152400" y="2105008"/>
            <a:ext cx="10363200" cy="755426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 b="1" dirty="0"/>
              <a:t>IT22643704 | </a:t>
            </a:r>
            <a:r>
              <a:rPr lang="en-US" b="1" dirty="0" err="1"/>
              <a:t>Wijebandara</a:t>
            </a:r>
            <a:r>
              <a:rPr lang="en-US" b="1" dirty="0"/>
              <a:t> W.N.S.K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956C7116-29FF-FC68-A0DB-AFE1AA407727}"/>
              </a:ext>
            </a:extLst>
          </p:cNvPr>
          <p:cNvSpPr txBox="1">
            <a:spLocks/>
          </p:cNvSpPr>
          <p:nvPr/>
        </p:nvSpPr>
        <p:spPr>
          <a:xfrm>
            <a:off x="914400" y="3200400"/>
            <a:ext cx="10363200" cy="609599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/>
              <a:t>Intelligent Service Discovery and Intent Recognition System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BBE21F-B014-B9DB-9E03-FE6CE891DC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6" t="-638" r="9504" b="638"/>
          <a:stretch>
            <a:fillRect/>
          </a:stretch>
        </p:blipFill>
        <p:spPr>
          <a:xfrm>
            <a:off x="10127550" y="137626"/>
            <a:ext cx="1981200" cy="23155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2519F90-1F8D-7007-3E3B-11D445FD02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59" r="-4758"/>
          <a:stretch>
            <a:fillRect/>
          </a:stretch>
        </p:blipFill>
        <p:spPr>
          <a:xfrm>
            <a:off x="10127550" y="152400"/>
            <a:ext cx="2151598" cy="2315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1670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5DD8C7-2DCC-8041-BE0A-7A0D6E0BC10A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IT22643704</a:t>
            </a:r>
            <a:r>
              <a:rPr lang="en-US" sz="1800" dirty="0">
                <a:solidFill>
                  <a:schemeClr val="tx1"/>
                </a:solidFill>
              </a:rPr>
              <a:t>  |  </a:t>
            </a:r>
            <a:r>
              <a:rPr lang="en-US" b="1" dirty="0" err="1">
                <a:solidFill>
                  <a:schemeClr val="tx1"/>
                </a:solidFill>
              </a:rPr>
              <a:t>Wijebandara</a:t>
            </a:r>
            <a:r>
              <a:rPr lang="en-US" b="1" dirty="0">
                <a:solidFill>
                  <a:schemeClr val="tx1"/>
                </a:solidFill>
              </a:rPr>
              <a:t> W.N.S.K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b="1" dirty="0">
                <a:solidFill>
                  <a:schemeClr val="tx1"/>
                </a:solidFill>
              </a:rPr>
              <a:t>R26-IT-090</a:t>
            </a: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9495F0-526E-F624-7561-3F5F4D0E7070}"/>
              </a:ext>
            </a:extLst>
          </p:cNvPr>
          <p:cNvSpPr txBox="1"/>
          <p:nvPr/>
        </p:nvSpPr>
        <p:spPr>
          <a:xfrm>
            <a:off x="2971800" y="11668"/>
            <a:ext cx="70075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tx1"/>
                </a:solidFill>
              </a:rPr>
              <a:t>Intelligent Service Discovery and Intent Recognition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A6BC39-1BE5-A568-190D-A47BA1605C59}"/>
              </a:ext>
            </a:extLst>
          </p:cNvPr>
          <p:cNvSpPr txBox="1"/>
          <p:nvPr/>
        </p:nvSpPr>
        <p:spPr>
          <a:xfrm>
            <a:off x="837235" y="1008927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Problem: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6D0EFC-B31C-247A-D199-EE79688B7AEA}"/>
              </a:ext>
            </a:extLst>
          </p:cNvPr>
          <p:cNvSpPr txBox="1"/>
          <p:nvPr/>
        </p:nvSpPr>
        <p:spPr>
          <a:xfrm>
            <a:off x="837234" y="1476350"/>
            <a:ext cx="107441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Service platforms mainly evaluate workers using star ratings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Star ratings alone cannot fully represent customer experience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Many platforms allow unverified reviews, leading to unreliable feedback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Workers may have multiple skills, but platforms often show one overall rating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508E29-C02F-D3C6-440F-B8083802A796}"/>
              </a:ext>
            </a:extLst>
          </p:cNvPr>
          <p:cNvSpPr txBox="1"/>
          <p:nvPr/>
        </p:nvSpPr>
        <p:spPr>
          <a:xfrm>
            <a:off x="723900" y="3429000"/>
            <a:ext cx="449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Proposed Solution: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7AF3B5-C79F-A7CE-0E87-8640F5B9A5E0}"/>
              </a:ext>
            </a:extLst>
          </p:cNvPr>
          <p:cNvSpPr txBox="1"/>
          <p:nvPr/>
        </p:nvSpPr>
        <p:spPr>
          <a:xfrm>
            <a:off x="838199" y="4064902"/>
            <a:ext cx="105156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module that analyzes verified customer reviews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Uses sentiment analysis + star ratings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Generates category-based credibility scores for workers</a:t>
            </a:r>
          </a:p>
        </p:txBody>
      </p:sp>
    </p:spTree>
    <p:extLst>
      <p:ext uri="{BB962C8B-B14F-4D97-AF65-F5344CB8AC3E}">
        <p14:creationId xmlns:p14="http://schemas.microsoft.com/office/powerpoint/2010/main" val="39984414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F4CF64-5819-C38F-832B-2BF2847DB050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IT22643704</a:t>
            </a:r>
            <a:r>
              <a:rPr lang="en-US" sz="1800" dirty="0">
                <a:solidFill>
                  <a:schemeClr val="tx1"/>
                </a:solidFill>
              </a:rPr>
              <a:t>  |  </a:t>
            </a:r>
            <a:r>
              <a:rPr lang="en-US" b="1" dirty="0" err="1">
                <a:solidFill>
                  <a:schemeClr val="tx1"/>
                </a:solidFill>
              </a:rPr>
              <a:t>Wijebandara</a:t>
            </a:r>
            <a:r>
              <a:rPr lang="en-US" b="1" dirty="0">
                <a:solidFill>
                  <a:schemeClr val="tx1"/>
                </a:solidFill>
              </a:rPr>
              <a:t> W.N.S.K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b="1" dirty="0">
                <a:solidFill>
                  <a:schemeClr val="tx1"/>
                </a:solidFill>
              </a:rPr>
              <a:t>R26-IT-090</a:t>
            </a: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6C9A32-6656-B38F-C2C9-A9E9EF843DE9}"/>
              </a:ext>
            </a:extLst>
          </p:cNvPr>
          <p:cNvSpPr txBox="1"/>
          <p:nvPr/>
        </p:nvSpPr>
        <p:spPr>
          <a:xfrm>
            <a:off x="2971799" y="11668"/>
            <a:ext cx="70582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tx1"/>
                </a:solidFill>
              </a:rPr>
              <a:t>Intelligent Service Discovery and Intent Recognition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110B9E-E783-482E-88D3-1A72DC489832}"/>
              </a:ext>
            </a:extLst>
          </p:cNvPr>
          <p:cNvSpPr txBox="1"/>
          <p:nvPr/>
        </p:nvSpPr>
        <p:spPr>
          <a:xfrm>
            <a:off x="837235" y="1008927"/>
            <a:ext cx="276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Research Problem: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0CBD6B-8E6C-111B-88E5-59199426D2AD}"/>
              </a:ext>
            </a:extLst>
          </p:cNvPr>
          <p:cNvSpPr txBox="1"/>
          <p:nvPr/>
        </p:nvSpPr>
        <p:spPr>
          <a:xfrm>
            <a:off x="837234" y="1476350"/>
            <a:ext cx="108220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Existing reputation systems rely mainly on numerical ratings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Text reviews are often ignored in credibility evaluation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Most sentiment models are trained on standard English datasets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Sri Lanka, users frequently write reviews using Singlish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B7A458-2844-18D3-F986-E221E736A867}"/>
              </a:ext>
            </a:extLst>
          </p:cNvPr>
          <p:cNvSpPr txBox="1"/>
          <p:nvPr/>
        </p:nvSpPr>
        <p:spPr>
          <a:xfrm>
            <a:off x="837234" y="3532537"/>
            <a:ext cx="4528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Research Gap: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24A5B1-E752-D7B6-A217-41F71341BAD5}"/>
              </a:ext>
            </a:extLst>
          </p:cNvPr>
          <p:cNvSpPr txBox="1"/>
          <p:nvPr/>
        </p:nvSpPr>
        <p:spPr>
          <a:xfrm>
            <a:off x="837234" y="3945274"/>
            <a:ext cx="105918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Lack of sentiment analysis models adapted for Singlish customer reviews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Lack of integrated credibility models combining ratings and sentiment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Lack of category-based worker evaluation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52333F-8FE3-EFEA-67F0-8A0DE5AD3E0C}"/>
              </a:ext>
            </a:extLst>
          </p:cNvPr>
          <p:cNvSpPr txBox="1"/>
          <p:nvPr/>
        </p:nvSpPr>
        <p:spPr>
          <a:xfrm>
            <a:off x="837234" y="2875002"/>
            <a:ext cx="7544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Example:  </a:t>
            </a:r>
            <a:r>
              <a:rPr lang="en-US" dirty="0"/>
              <a:t>“Plumber eka </a:t>
            </a:r>
            <a:r>
              <a:rPr lang="en-US" dirty="0" err="1"/>
              <a:t>awilla</a:t>
            </a:r>
            <a:r>
              <a:rPr lang="en-US" dirty="0"/>
              <a:t> pipe eka </a:t>
            </a:r>
            <a:r>
              <a:rPr lang="en-US" dirty="0" err="1"/>
              <a:t>hariyata</a:t>
            </a:r>
            <a:r>
              <a:rPr lang="en-US" dirty="0"/>
              <a:t> fix kala. Good service.”</a:t>
            </a:r>
          </a:p>
        </p:txBody>
      </p:sp>
    </p:spTree>
    <p:extLst>
      <p:ext uri="{BB962C8B-B14F-4D97-AF65-F5344CB8AC3E}">
        <p14:creationId xmlns:p14="http://schemas.microsoft.com/office/powerpoint/2010/main" val="8770500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153504-2337-45C6-8641-EEEE1E6BE8DB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IT22643704</a:t>
            </a:r>
            <a:r>
              <a:rPr lang="en-US" sz="1800" dirty="0">
                <a:solidFill>
                  <a:schemeClr val="tx1"/>
                </a:solidFill>
              </a:rPr>
              <a:t>  |  </a:t>
            </a:r>
            <a:r>
              <a:rPr lang="en-US" b="1" dirty="0" err="1">
                <a:solidFill>
                  <a:schemeClr val="tx1"/>
                </a:solidFill>
              </a:rPr>
              <a:t>Wijebandara</a:t>
            </a:r>
            <a:r>
              <a:rPr lang="en-US" b="1" dirty="0">
                <a:solidFill>
                  <a:schemeClr val="tx1"/>
                </a:solidFill>
              </a:rPr>
              <a:t> W.N.S.K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b="1" dirty="0">
                <a:solidFill>
                  <a:schemeClr val="tx1"/>
                </a:solidFill>
              </a:rPr>
              <a:t>R26-IT-090</a:t>
            </a: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20E84A-8071-5AE5-4E4E-FE9BDB718AB9}"/>
              </a:ext>
            </a:extLst>
          </p:cNvPr>
          <p:cNvSpPr txBox="1"/>
          <p:nvPr/>
        </p:nvSpPr>
        <p:spPr>
          <a:xfrm>
            <a:off x="2971799" y="11668"/>
            <a:ext cx="70582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tx1"/>
                </a:solidFill>
              </a:rPr>
              <a:t>Intelligent Service Discovery and Intent Recognition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5719BF-0815-0D01-67C9-9787F5D0394C}"/>
              </a:ext>
            </a:extLst>
          </p:cNvPr>
          <p:cNvSpPr txBox="1"/>
          <p:nvPr/>
        </p:nvSpPr>
        <p:spPr>
          <a:xfrm>
            <a:off x="837235" y="1008927"/>
            <a:ext cx="276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 Objective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80BC81-F9EC-7946-53EF-3A3A4EADAAF4}"/>
              </a:ext>
            </a:extLst>
          </p:cNvPr>
          <p:cNvSpPr txBox="1"/>
          <p:nvPr/>
        </p:nvSpPr>
        <p:spPr>
          <a:xfrm>
            <a:off x="837234" y="1476350"/>
            <a:ext cx="10822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 an AI-based credibility evaluation module that analyzes verified customer reviews using sentiment analysis and star ratings.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170FFC-8E9F-549B-3DFC-1CE017CD16F0}"/>
              </a:ext>
            </a:extLst>
          </p:cNvPr>
          <p:cNvSpPr txBox="1"/>
          <p:nvPr/>
        </p:nvSpPr>
        <p:spPr>
          <a:xfrm>
            <a:off x="837234" y="2288943"/>
            <a:ext cx="4528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Specific Objectives: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461F4A-1DA5-AE5E-23E0-99E050FD33A2}"/>
              </a:ext>
            </a:extLst>
          </p:cNvPr>
          <p:cNvSpPr txBox="1"/>
          <p:nvPr/>
        </p:nvSpPr>
        <p:spPr>
          <a:xfrm>
            <a:off x="837234" y="2701680"/>
            <a:ext cx="105918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Enable verified review submission after completed transactions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Analyze review text using sentiment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Calculate sentiment scores from review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Normalize star rating scores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Generate category-based credibility scores for workers</a:t>
            </a:r>
          </a:p>
        </p:txBody>
      </p:sp>
    </p:spTree>
    <p:extLst>
      <p:ext uri="{BB962C8B-B14F-4D97-AF65-F5344CB8AC3E}">
        <p14:creationId xmlns:p14="http://schemas.microsoft.com/office/powerpoint/2010/main" val="13526980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FB3763-6FFE-4AD8-F578-973E6DECABF1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IT22643704</a:t>
            </a:r>
            <a:r>
              <a:rPr lang="en-US" sz="1800" dirty="0">
                <a:solidFill>
                  <a:schemeClr val="tx1"/>
                </a:solidFill>
              </a:rPr>
              <a:t>  |  </a:t>
            </a:r>
            <a:r>
              <a:rPr lang="en-US" b="1" dirty="0" err="1">
                <a:solidFill>
                  <a:schemeClr val="tx1"/>
                </a:solidFill>
              </a:rPr>
              <a:t>Wijebandara</a:t>
            </a:r>
            <a:r>
              <a:rPr lang="en-US" b="1" dirty="0">
                <a:solidFill>
                  <a:schemeClr val="tx1"/>
                </a:solidFill>
              </a:rPr>
              <a:t> W.N.S.K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b="1" dirty="0">
                <a:solidFill>
                  <a:schemeClr val="tx1"/>
                </a:solidFill>
              </a:rPr>
              <a:t>R26-IT-090</a:t>
            </a: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185413-A9B4-1932-A048-3FDC48FD171F}"/>
              </a:ext>
            </a:extLst>
          </p:cNvPr>
          <p:cNvSpPr txBox="1"/>
          <p:nvPr/>
        </p:nvSpPr>
        <p:spPr>
          <a:xfrm>
            <a:off x="2971799" y="11668"/>
            <a:ext cx="70582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tx1"/>
                </a:solidFill>
              </a:rPr>
              <a:t>Intelligent Service Discovery and Intent Recognition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316D37-751B-E264-2CAF-BBABEC35C34C}"/>
              </a:ext>
            </a:extLst>
          </p:cNvPr>
          <p:cNvSpPr txBox="1"/>
          <p:nvPr/>
        </p:nvSpPr>
        <p:spPr>
          <a:xfrm>
            <a:off x="837235" y="1008927"/>
            <a:ext cx="276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Technologies Used: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3A8232-1D16-ED43-2FA5-BADEAC6CD9DF}"/>
              </a:ext>
            </a:extLst>
          </p:cNvPr>
          <p:cNvSpPr txBox="1"/>
          <p:nvPr/>
        </p:nvSpPr>
        <p:spPr>
          <a:xfrm>
            <a:off x="837234" y="1476350"/>
            <a:ext cx="108220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Natural Language Processing (NLP)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Machine Learning Sentiment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Python / Scikit-learn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Text preprocessing techniques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1445AA-977E-1F9E-21E9-5F5077E85681}"/>
              </a:ext>
            </a:extLst>
          </p:cNvPr>
          <p:cNvSpPr txBox="1"/>
          <p:nvPr/>
        </p:nvSpPr>
        <p:spPr>
          <a:xfrm>
            <a:off x="820837" y="2774770"/>
            <a:ext cx="4528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Processing Steps: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E9E584-1B15-FF71-03D2-3284750E3C29}"/>
              </a:ext>
            </a:extLst>
          </p:cNvPr>
          <p:cNvSpPr txBox="1"/>
          <p:nvPr/>
        </p:nvSpPr>
        <p:spPr>
          <a:xfrm>
            <a:off x="820837" y="3187507"/>
            <a:ext cx="1059180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Customer submits text review + star rating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Review text undergoes NLP preprocessing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Sentiment model classifies review as positive or negative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System calculates sentiment 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Star rating is normalized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Credibility score is calculated using a weighted 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F420AD-4413-0F3D-5DCE-8F372511847D}"/>
              </a:ext>
            </a:extLst>
          </p:cNvPr>
          <p:cNvSpPr txBox="1"/>
          <p:nvPr/>
        </p:nvSpPr>
        <p:spPr>
          <a:xfrm>
            <a:off x="762000" y="5071022"/>
            <a:ext cx="754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Formula: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Credibility Score =w1 × Sentiment Score + w2 × Normalized Star Rating</a:t>
            </a:r>
          </a:p>
        </p:txBody>
      </p:sp>
    </p:spTree>
    <p:extLst>
      <p:ext uri="{BB962C8B-B14F-4D97-AF65-F5344CB8AC3E}">
        <p14:creationId xmlns:p14="http://schemas.microsoft.com/office/powerpoint/2010/main" val="17524568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5A6489-2807-FB64-BE18-8FD3E3440C9D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IT22643704</a:t>
            </a:r>
            <a:r>
              <a:rPr lang="en-US" sz="1800" dirty="0">
                <a:solidFill>
                  <a:schemeClr val="tx1"/>
                </a:solidFill>
              </a:rPr>
              <a:t>  |  </a:t>
            </a:r>
            <a:r>
              <a:rPr lang="en-US" b="1" dirty="0" err="1">
                <a:solidFill>
                  <a:schemeClr val="tx1"/>
                </a:solidFill>
              </a:rPr>
              <a:t>Wijebandara</a:t>
            </a:r>
            <a:r>
              <a:rPr lang="en-US" b="1" dirty="0">
                <a:solidFill>
                  <a:schemeClr val="tx1"/>
                </a:solidFill>
              </a:rPr>
              <a:t> W.N.S.K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b="1" dirty="0">
                <a:solidFill>
                  <a:schemeClr val="tx1"/>
                </a:solidFill>
              </a:rPr>
              <a:t>R26-IT-090</a:t>
            </a: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CA4F47-1D88-01AB-15E0-88BE8D0F5833}"/>
              </a:ext>
            </a:extLst>
          </p:cNvPr>
          <p:cNvSpPr txBox="1"/>
          <p:nvPr/>
        </p:nvSpPr>
        <p:spPr>
          <a:xfrm>
            <a:off x="2971799" y="11668"/>
            <a:ext cx="70582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tx1"/>
                </a:solidFill>
              </a:rPr>
              <a:t>Intelligent Service Discovery and Intent Recognition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347A34-9BD6-87F3-A696-3C5351C39BD2}"/>
              </a:ext>
            </a:extLst>
          </p:cNvPr>
          <p:cNvSpPr txBox="1"/>
          <p:nvPr/>
        </p:nvSpPr>
        <p:spPr>
          <a:xfrm>
            <a:off x="837235" y="1008927"/>
            <a:ext cx="276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Dataset: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D2098E-AD60-87BB-AAD7-A7C0BF8936D0}"/>
              </a:ext>
            </a:extLst>
          </p:cNvPr>
          <p:cNvSpPr txBox="1"/>
          <p:nvPr/>
        </p:nvSpPr>
        <p:spPr>
          <a:xfrm>
            <a:off x="837234" y="1371600"/>
            <a:ext cx="108220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Customer review dataset including Singlish reviews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 sources:</a:t>
            </a:r>
          </a:p>
          <a:p>
            <a:r>
              <a:rPr lang="en-US" dirty="0"/>
              <a:t>           - Collected review samples</a:t>
            </a:r>
          </a:p>
          <a:p>
            <a:r>
              <a:rPr lang="en-US" dirty="0"/>
              <a:t>           - Public review datasets</a:t>
            </a:r>
          </a:p>
          <a:p>
            <a:r>
              <a:rPr lang="en-US" dirty="0"/>
              <a:t>           - Simulated service marketplace reviews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EC4A9D-4362-4548-8784-B3726247184D}"/>
              </a:ext>
            </a:extLst>
          </p:cNvPr>
          <p:cNvSpPr txBox="1"/>
          <p:nvPr/>
        </p:nvSpPr>
        <p:spPr>
          <a:xfrm>
            <a:off x="837234" y="3048000"/>
            <a:ext cx="4528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Validation: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35C971-1FBA-5679-40F3-D14C86D7847F}"/>
              </a:ext>
            </a:extLst>
          </p:cNvPr>
          <p:cNvSpPr txBox="1"/>
          <p:nvPr/>
        </p:nvSpPr>
        <p:spPr>
          <a:xfrm>
            <a:off x="837234" y="3429000"/>
            <a:ext cx="105918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Model performance evaluated using:</a:t>
            </a:r>
          </a:p>
          <a:p>
            <a:r>
              <a:rPr lang="en-US" dirty="0"/>
              <a:t>	- Accuracy</a:t>
            </a:r>
          </a:p>
          <a:p>
            <a:r>
              <a:rPr lang="en-US" dirty="0"/>
              <a:t>	- Precision</a:t>
            </a:r>
          </a:p>
          <a:p>
            <a:r>
              <a:rPr lang="en-US" dirty="0"/>
              <a:t>	- Recall</a:t>
            </a:r>
          </a:p>
          <a:p>
            <a:r>
              <a:rPr lang="en-US" dirty="0"/>
              <a:t>	- F1-Score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AD6765-AD9E-2FA1-869C-1F5E299AB6A6}"/>
              </a:ext>
            </a:extLst>
          </p:cNvPr>
          <p:cNvSpPr txBox="1"/>
          <p:nvPr/>
        </p:nvSpPr>
        <p:spPr>
          <a:xfrm>
            <a:off x="828553" y="5022650"/>
            <a:ext cx="68676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Security &amp; Ethics: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Reviews allowed only after verified service transactions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personal data stored in the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used only for research and system evaluation</a:t>
            </a:r>
          </a:p>
        </p:txBody>
      </p:sp>
    </p:spTree>
    <p:extLst>
      <p:ext uri="{BB962C8B-B14F-4D97-AF65-F5344CB8AC3E}">
        <p14:creationId xmlns:p14="http://schemas.microsoft.com/office/powerpoint/2010/main" val="15873129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E58263-2E41-EDB9-4130-7ACB43A5B4E0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IT22643704</a:t>
            </a:r>
            <a:r>
              <a:rPr lang="en-US" sz="1800" dirty="0">
                <a:solidFill>
                  <a:schemeClr val="tx1"/>
                </a:solidFill>
              </a:rPr>
              <a:t>  |  </a:t>
            </a:r>
            <a:r>
              <a:rPr lang="en-US" b="1" dirty="0" err="1">
                <a:solidFill>
                  <a:schemeClr val="tx1"/>
                </a:solidFill>
              </a:rPr>
              <a:t>Wijebandara</a:t>
            </a:r>
            <a:r>
              <a:rPr lang="en-US" b="1" dirty="0">
                <a:solidFill>
                  <a:schemeClr val="tx1"/>
                </a:solidFill>
              </a:rPr>
              <a:t> W.N.S.K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b="1" dirty="0">
                <a:solidFill>
                  <a:schemeClr val="tx1"/>
                </a:solidFill>
              </a:rPr>
              <a:t>R26-IT-090</a:t>
            </a: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BC4E0F-A526-62A3-5307-C544799E1D65}"/>
              </a:ext>
            </a:extLst>
          </p:cNvPr>
          <p:cNvSpPr txBox="1"/>
          <p:nvPr/>
        </p:nvSpPr>
        <p:spPr>
          <a:xfrm>
            <a:off x="2971799" y="11668"/>
            <a:ext cx="70582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tx1"/>
                </a:solidFill>
              </a:rPr>
              <a:t>Intelligent Service Discovery and Intent Recognition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728EF2-D055-9361-88B1-2173161F989B}"/>
              </a:ext>
            </a:extLst>
          </p:cNvPr>
          <p:cNvSpPr txBox="1"/>
          <p:nvPr/>
        </p:nvSpPr>
        <p:spPr>
          <a:xfrm>
            <a:off x="755407" y="602739"/>
            <a:ext cx="27630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System Overview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9D93E5-2889-5DB6-AD48-93385E79A755}"/>
              </a:ext>
            </a:extLst>
          </p:cNvPr>
          <p:cNvSpPr txBox="1"/>
          <p:nvPr/>
        </p:nvSpPr>
        <p:spPr>
          <a:xfrm>
            <a:off x="829035" y="1716656"/>
            <a:ext cx="27466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Verified review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Star rating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Job category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7DA74D-889C-1403-5FC0-FE735E05513D}"/>
              </a:ext>
            </a:extLst>
          </p:cNvPr>
          <p:cNvSpPr txBox="1"/>
          <p:nvPr/>
        </p:nvSpPr>
        <p:spPr>
          <a:xfrm>
            <a:off x="795517" y="1295400"/>
            <a:ext cx="2813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Inputs: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88EC77-FB1E-7D73-10DB-A4246B89C608}"/>
              </a:ext>
            </a:extLst>
          </p:cNvPr>
          <p:cNvSpPr txBox="1"/>
          <p:nvPr/>
        </p:nvSpPr>
        <p:spPr>
          <a:xfrm>
            <a:off x="3950555" y="1661050"/>
            <a:ext cx="33619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NLP preprocessing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Sentiment classification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Score calculation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A9082C-38AC-7662-1A39-4CDE35748FA9}"/>
              </a:ext>
            </a:extLst>
          </p:cNvPr>
          <p:cNvSpPr txBox="1"/>
          <p:nvPr/>
        </p:nvSpPr>
        <p:spPr>
          <a:xfrm>
            <a:off x="3883520" y="1317059"/>
            <a:ext cx="2813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Processing: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9B8248-72E4-8886-4E45-852F690FC2B3}"/>
              </a:ext>
            </a:extLst>
          </p:cNvPr>
          <p:cNvSpPr txBox="1"/>
          <p:nvPr/>
        </p:nvSpPr>
        <p:spPr>
          <a:xfrm>
            <a:off x="7434417" y="1716656"/>
            <a:ext cx="49744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Category-based credibility score for each worker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048626-329C-10D3-CE0E-3ED8F6B1D8DA}"/>
              </a:ext>
            </a:extLst>
          </p:cNvPr>
          <p:cNvSpPr txBox="1"/>
          <p:nvPr/>
        </p:nvSpPr>
        <p:spPr>
          <a:xfrm>
            <a:off x="7367382" y="1372665"/>
            <a:ext cx="2520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F02A6D-3762-03F7-E99A-82E641C9809A}"/>
              </a:ext>
            </a:extLst>
          </p:cNvPr>
          <p:cNvSpPr txBox="1"/>
          <p:nvPr/>
        </p:nvSpPr>
        <p:spPr>
          <a:xfrm>
            <a:off x="776627" y="3544589"/>
            <a:ext cx="41640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Plumbing Credibility Score → 0.92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Electrical Credibility Score → 0.55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E1A201-9164-A80B-B562-38CAD84D793C}"/>
              </a:ext>
            </a:extLst>
          </p:cNvPr>
          <p:cNvSpPr txBox="1"/>
          <p:nvPr/>
        </p:nvSpPr>
        <p:spPr>
          <a:xfrm>
            <a:off x="755407" y="3041832"/>
            <a:ext cx="3361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 Worker Profile: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418C5D3-EB27-A0A5-CE95-408AA1D6B2EC}"/>
              </a:ext>
            </a:extLst>
          </p:cNvPr>
          <p:cNvSpPr/>
          <p:nvPr/>
        </p:nvSpPr>
        <p:spPr>
          <a:xfrm>
            <a:off x="3518485" y="1295400"/>
            <a:ext cx="57231" cy="128898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D83D31-89E2-0D2F-FDC8-530A4000B99C}"/>
              </a:ext>
            </a:extLst>
          </p:cNvPr>
          <p:cNvSpPr/>
          <p:nvPr/>
        </p:nvSpPr>
        <p:spPr>
          <a:xfrm>
            <a:off x="7086600" y="1295400"/>
            <a:ext cx="57231" cy="128898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36170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A013D8BB-2A5D-1FC1-661F-0FBECFFC2337}"/>
              </a:ext>
            </a:extLst>
          </p:cNvPr>
          <p:cNvSpPr txBox="1"/>
          <p:nvPr/>
        </p:nvSpPr>
        <p:spPr>
          <a:xfrm>
            <a:off x="457200" y="762000"/>
            <a:ext cx="487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Dependencies and the Component diagram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E33110-ECD9-0198-F251-42B82E736F22}"/>
              </a:ext>
            </a:extLst>
          </p:cNvPr>
          <p:cNvSpPr txBox="1"/>
          <p:nvPr/>
        </p:nvSpPr>
        <p:spPr>
          <a:xfrm>
            <a:off x="464512" y="1789331"/>
            <a:ext cx="50145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NLP libraries (NLTK / </a:t>
            </a:r>
            <a:r>
              <a:rPr lang="en-US" dirty="0" err="1"/>
              <a:t>SpaCy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Machine learning libraries (Scikit-learn)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Database for review storage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438A24-FCDD-7663-B2B5-8C51F1654684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IT22643704</a:t>
            </a:r>
            <a:r>
              <a:rPr lang="en-US" sz="1800" dirty="0">
                <a:solidFill>
                  <a:schemeClr val="tx1"/>
                </a:solidFill>
              </a:rPr>
              <a:t>  |  </a:t>
            </a:r>
            <a:r>
              <a:rPr lang="en-US" b="1" dirty="0" err="1">
                <a:solidFill>
                  <a:schemeClr val="tx1"/>
                </a:solidFill>
              </a:rPr>
              <a:t>Wijebandara</a:t>
            </a:r>
            <a:r>
              <a:rPr lang="en-US" b="1" dirty="0">
                <a:solidFill>
                  <a:schemeClr val="tx1"/>
                </a:solidFill>
              </a:rPr>
              <a:t> W.N.S.K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b="1" dirty="0">
                <a:solidFill>
                  <a:schemeClr val="tx1"/>
                </a:solidFill>
              </a:rPr>
              <a:t>R26-IT-090</a:t>
            </a: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5C513A-0A1E-B27E-5A0E-75D76CD108D8}"/>
              </a:ext>
            </a:extLst>
          </p:cNvPr>
          <p:cNvSpPr txBox="1"/>
          <p:nvPr/>
        </p:nvSpPr>
        <p:spPr>
          <a:xfrm>
            <a:off x="2971799" y="11668"/>
            <a:ext cx="70582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tx1"/>
                </a:solidFill>
              </a:rPr>
              <a:t>Intelligent Service Discovery and Intent Recognition System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32ACE3-9498-1911-63D4-FEB06406C2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0" y="381000"/>
            <a:ext cx="3825653" cy="620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0473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E324FA-8201-3031-0909-7DAA002B31B1}"/>
              </a:ext>
            </a:extLst>
          </p:cNvPr>
          <p:cNvSpPr txBox="1"/>
          <p:nvPr/>
        </p:nvSpPr>
        <p:spPr>
          <a:xfrm>
            <a:off x="1849889" y="2142318"/>
            <a:ext cx="105049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IT22137982|A.J.T.M. Kumara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A86FC4-F227-C71F-9C9E-D5B23EFA7801}"/>
              </a:ext>
            </a:extLst>
          </p:cNvPr>
          <p:cNvSpPr txBox="1"/>
          <p:nvPr/>
        </p:nvSpPr>
        <p:spPr>
          <a:xfrm>
            <a:off x="1849889" y="3171608"/>
            <a:ext cx="893545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Intelligent Dynamic Fare Estimation System</a:t>
            </a:r>
            <a:endParaRPr lang="en-US" sz="32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4" name="Picture 3" descr="A person wearing glasses and a blue shirt&#10;&#10;Description automatically generated">
            <a:extLst>
              <a:ext uri="{FF2B5EF4-FFF2-40B4-BE49-F238E27FC236}">
                <a16:creationId xmlns:a16="http://schemas.microsoft.com/office/drawing/2014/main" id="{2DF1D267-E502-0BD5-83D0-510A0EBA47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0054" y="0"/>
            <a:ext cx="2223733" cy="228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8543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1DFB4E-540F-F78C-87B4-20451225F987}"/>
              </a:ext>
            </a:extLst>
          </p:cNvPr>
          <p:cNvSpPr txBox="1"/>
          <p:nvPr/>
        </p:nvSpPr>
        <p:spPr>
          <a:xfrm>
            <a:off x="377754" y="987975"/>
            <a:ext cx="11325726" cy="5885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Latha" panose="020B0604020202020204" pitchFamily="34" charset="0"/>
              </a:rPr>
              <a:t>Problem Definition: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Arbitrary pricing leading to customer dissatisfaction and lack of transparency.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Latha" panose="020B0604020202020204" pitchFamily="34" charset="0"/>
              </a:rPr>
              <a:t>Contribution to Overall Solution: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Standardizes pricing to build trust between homeowners and technicians.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Novelty: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3-Stage Pricing Logic- Unlike existing apps that use a single fixed fee, this component separates costs into Transport (GPS-based), Inspection (Fixed), and Repair (ML-predicted).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4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FC3A5B-1133-6F42-8E1D-A0E7E9A74CDE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IT22137982  |  </a:t>
            </a:r>
            <a:r>
              <a:rPr lang="pt-BR" b="1" dirty="0">
                <a:solidFill>
                  <a:schemeClr val="tx1"/>
                </a:solidFill>
              </a:rPr>
              <a:t>Kumara A.J.T.M</a:t>
            </a:r>
            <a:r>
              <a:rPr lang="en-US" sz="1800" b="1" dirty="0">
                <a:solidFill>
                  <a:schemeClr val="tx1"/>
                </a:solidFill>
              </a:rPr>
              <a:t>|   </a:t>
            </a:r>
            <a:r>
              <a:rPr lang="en-US" b="1" dirty="0">
                <a:solidFill>
                  <a:schemeClr val="tx1"/>
                </a:solidFill>
              </a:rPr>
              <a:t>R26-IT-090</a:t>
            </a: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6DEB51-8883-B317-708C-6B3994F95BA4}"/>
              </a:ext>
            </a:extLst>
          </p:cNvPr>
          <p:cNvSpPr txBox="1"/>
          <p:nvPr/>
        </p:nvSpPr>
        <p:spPr>
          <a:xfrm>
            <a:off x="3490011" y="-21686"/>
            <a:ext cx="47244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Intelligent Dynamic Fare Estimation System</a:t>
            </a:r>
            <a:endParaRPr lang="en-US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62719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38DABB-A823-46C4-A460-001B87C5E8DD}"/>
              </a:ext>
            </a:extLst>
          </p:cNvPr>
          <p:cNvSpPr txBox="1"/>
          <p:nvPr/>
        </p:nvSpPr>
        <p:spPr>
          <a:xfrm>
            <a:off x="344904" y="1030426"/>
            <a:ext cx="11502191" cy="4797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Knowledge Domain: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Supervised Machine Learning (Regression Analysis) and Geospatial Data Processing</a:t>
            </a:r>
          </a:p>
          <a:p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Technologies Utilized: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Python (Scikit-learn):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training the Multiple Linear Regression model.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Node.js &amp; Express: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real-time calculation orchestration.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React Native: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Cross-platform mobile UI for price breakdown visualization</a:t>
            </a:r>
          </a:p>
          <a:p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Availability &amp; Ethics: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Data Source: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Primary data via localized market surveys in Sri Lanka.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Security: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SSL/TLS encryption for all pricing API requests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2B27E7-64B2-02D7-516B-ED5F35EC81B8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IT22137982  |  </a:t>
            </a:r>
            <a:r>
              <a:rPr lang="pt-BR" b="1" dirty="0">
                <a:solidFill>
                  <a:schemeClr val="tx1"/>
                </a:solidFill>
              </a:rPr>
              <a:t>Kumara A.J.T.M</a:t>
            </a:r>
            <a:r>
              <a:rPr lang="en-US" sz="1800" b="1" dirty="0">
                <a:solidFill>
                  <a:schemeClr val="tx1"/>
                </a:solidFill>
              </a:rPr>
              <a:t>|   </a:t>
            </a:r>
            <a:r>
              <a:rPr lang="en-US" b="1" dirty="0">
                <a:solidFill>
                  <a:schemeClr val="tx1"/>
                </a:solidFill>
              </a:rPr>
              <a:t>R26-IT-090</a:t>
            </a: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DA368B-460C-0963-96E1-98DF3A71A3E5}"/>
              </a:ext>
            </a:extLst>
          </p:cNvPr>
          <p:cNvSpPr txBox="1"/>
          <p:nvPr/>
        </p:nvSpPr>
        <p:spPr>
          <a:xfrm>
            <a:off x="3490011" y="-21686"/>
            <a:ext cx="47244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Intelligent Dynamic Fare Estimation System</a:t>
            </a:r>
            <a:endParaRPr lang="en-US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00246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46457D9-F4CD-0616-10F4-E90EE269C13E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IT22137982  |  </a:t>
            </a:r>
            <a:r>
              <a:rPr lang="pt-BR" b="1" dirty="0">
                <a:solidFill>
                  <a:schemeClr val="tx1"/>
                </a:solidFill>
              </a:rPr>
              <a:t>Kumara A.J.T.M</a:t>
            </a:r>
            <a:r>
              <a:rPr lang="en-US" sz="1800" b="1" dirty="0">
                <a:solidFill>
                  <a:schemeClr val="tx1"/>
                </a:solidFill>
              </a:rPr>
              <a:t>|   </a:t>
            </a:r>
            <a:r>
              <a:rPr lang="en-US" b="1" dirty="0">
                <a:solidFill>
                  <a:schemeClr val="tx1"/>
                </a:solidFill>
              </a:rPr>
              <a:t>R26-IT-090</a:t>
            </a: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5BB7FF-26A8-4608-6509-C8D342960F6F}"/>
              </a:ext>
            </a:extLst>
          </p:cNvPr>
          <p:cNvSpPr txBox="1"/>
          <p:nvPr/>
        </p:nvSpPr>
        <p:spPr>
          <a:xfrm>
            <a:off x="3490011" y="-21686"/>
            <a:ext cx="47244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Intelligent Dynamic Fare Estimation System</a:t>
            </a:r>
            <a:endParaRPr lang="en-US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3992C0-B91E-5855-033C-C242C5FE8813}"/>
              </a:ext>
            </a:extLst>
          </p:cNvPr>
          <p:cNvSpPr txBox="1"/>
          <p:nvPr/>
        </p:nvSpPr>
        <p:spPr>
          <a:xfrm>
            <a:off x="829520" y="1349938"/>
            <a:ext cx="10422194" cy="411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Performance Metrics: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Mean Absolute Error (MAE):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measure prediction accuracy against 	actual invoices.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Root Mean Square Error (RMSE):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penalize large prediction outliers.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Validation Method: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UAT (User Acceptance Testing):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Surveys with 20 technicians to ensure the   	3-stage logic covers their operational costs (fuel + time).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System Accuracy Goal: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Maintain a 90% accuracy rate compared to the 	final invoiced amount.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6430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19BEBB8-BDCC-1662-9971-C6650BD27193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IT22137982  |  </a:t>
            </a:r>
            <a:r>
              <a:rPr lang="pt-BR" b="1" dirty="0">
                <a:solidFill>
                  <a:schemeClr val="tx1"/>
                </a:solidFill>
              </a:rPr>
              <a:t>Kumara A.J.T.M</a:t>
            </a:r>
            <a:r>
              <a:rPr lang="en-US" sz="1800" b="1" dirty="0">
                <a:solidFill>
                  <a:schemeClr val="tx1"/>
                </a:solidFill>
              </a:rPr>
              <a:t>|   </a:t>
            </a:r>
            <a:r>
              <a:rPr lang="en-US" b="1" dirty="0">
                <a:solidFill>
                  <a:schemeClr val="tx1"/>
                </a:solidFill>
              </a:rPr>
              <a:t>R26-IT-090</a:t>
            </a: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441D69-DE74-0764-5575-FA681DBABFC2}"/>
              </a:ext>
            </a:extLst>
          </p:cNvPr>
          <p:cNvSpPr txBox="1"/>
          <p:nvPr/>
        </p:nvSpPr>
        <p:spPr>
          <a:xfrm>
            <a:off x="3490011" y="-21686"/>
            <a:ext cx="47244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Intelligent Dynamic Fare Estimation System</a:t>
            </a:r>
            <a:endParaRPr lang="en-US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E89372-9F66-E536-46DF-4D0A18DE0A62}"/>
              </a:ext>
            </a:extLst>
          </p:cNvPr>
          <p:cNvSpPr txBox="1"/>
          <p:nvPr/>
        </p:nvSpPr>
        <p:spPr>
          <a:xfrm>
            <a:off x="685800" y="838200"/>
            <a:ext cx="9529011" cy="5475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 Architecture (Individual Focus):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Input Layer: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Job type, Complexity level (1-5), GPS Coordinates.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Processing Layer: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Distance Matrix calculation (Google Maps API).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2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13716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ML Regression execution (Python Flask/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Output Layer: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Transparent 3-Stage breakdown displayed on the 				   React Native App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Dependencies: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Requires the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 Management Module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technician location 	data.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Requires the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Job Posting Module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specific task complexity 	parameters.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27148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D74AF6-F7F1-A934-A492-B3CDC88CEE3E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IT22137982  |  </a:t>
            </a:r>
            <a:r>
              <a:rPr lang="pt-BR" b="1" dirty="0">
                <a:solidFill>
                  <a:schemeClr val="tx1"/>
                </a:solidFill>
              </a:rPr>
              <a:t>Kumara A.J.T.M</a:t>
            </a:r>
            <a:r>
              <a:rPr lang="en-US" sz="1800" b="1" dirty="0">
                <a:solidFill>
                  <a:schemeClr val="tx1"/>
                </a:solidFill>
              </a:rPr>
              <a:t>|   </a:t>
            </a:r>
            <a:r>
              <a:rPr lang="en-US" b="1" dirty="0">
                <a:solidFill>
                  <a:schemeClr val="tx1"/>
                </a:solidFill>
              </a:rPr>
              <a:t>R26-IT-090</a:t>
            </a: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9B287C-DE45-71FB-2832-010C38BE3604}"/>
              </a:ext>
            </a:extLst>
          </p:cNvPr>
          <p:cNvSpPr txBox="1"/>
          <p:nvPr/>
        </p:nvSpPr>
        <p:spPr>
          <a:xfrm>
            <a:off x="3490011" y="-21686"/>
            <a:ext cx="47244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Intelligent Dynamic Fare Estimation System</a:t>
            </a:r>
            <a:endParaRPr lang="en-US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C11BD7-F9A6-B035-CD03-4339015D2B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36" b="4326"/>
          <a:stretch>
            <a:fillRect/>
          </a:stretch>
        </p:blipFill>
        <p:spPr>
          <a:xfrm>
            <a:off x="4784172" y="347646"/>
            <a:ext cx="4512546" cy="61757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3A490C-93AE-DE00-97F5-6CD782212352}"/>
              </a:ext>
            </a:extLst>
          </p:cNvPr>
          <p:cNvSpPr txBox="1"/>
          <p:nvPr/>
        </p:nvSpPr>
        <p:spPr>
          <a:xfrm>
            <a:off x="925606" y="838200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Component Diagram</a:t>
            </a:r>
          </a:p>
        </p:txBody>
      </p:sp>
    </p:spTree>
    <p:extLst>
      <p:ext uri="{BB962C8B-B14F-4D97-AF65-F5344CB8AC3E}">
        <p14:creationId xmlns:p14="http://schemas.microsoft.com/office/powerpoint/2010/main" val="6862042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E8F1B1-814A-A311-3EC1-C69589E27350}"/>
              </a:ext>
            </a:extLst>
          </p:cNvPr>
          <p:cNvSpPr txBox="1"/>
          <p:nvPr/>
        </p:nvSpPr>
        <p:spPr>
          <a:xfrm>
            <a:off x="457200" y="82261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Commercialization: Market &amp; Value Proposition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6034C9-B447-D69A-6172-7AE2BA286995}"/>
              </a:ext>
            </a:extLst>
          </p:cNvPr>
          <p:cNvSpPr txBox="1"/>
          <p:nvPr/>
        </p:nvSpPr>
        <p:spPr>
          <a:xfrm>
            <a:off x="838200" y="1295400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Target Market: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58F48A-753A-2D97-2251-9EEA694C1BF2}"/>
              </a:ext>
            </a:extLst>
          </p:cNvPr>
          <p:cNvSpPr txBox="1"/>
          <p:nvPr/>
        </p:nvSpPr>
        <p:spPr>
          <a:xfrm>
            <a:off x="838199" y="1762823"/>
            <a:ext cx="10744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Initially targeting the urban and suburban informal household maintenance sector in the Western Province.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17EC62-684E-8E7B-6AB1-F89E8190D131}"/>
              </a:ext>
            </a:extLst>
          </p:cNvPr>
          <p:cNvSpPr txBox="1"/>
          <p:nvPr/>
        </p:nvSpPr>
        <p:spPr>
          <a:xfrm>
            <a:off x="838199" y="2482363"/>
            <a:ext cx="449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Customer Profiles: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653F44-4A1E-E4C9-B276-885421F4AA5E}"/>
              </a:ext>
            </a:extLst>
          </p:cNvPr>
          <p:cNvSpPr txBox="1"/>
          <p:nvPr/>
        </p:nvSpPr>
        <p:spPr>
          <a:xfrm>
            <a:off x="838199" y="2924904"/>
            <a:ext cx="105156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Homeowners:</a:t>
            </a:r>
            <a:r>
              <a:rPr lang="en-US" dirty="0"/>
              <a:t> Busy, middle-income professionals who lack hardware terminology and seek reliable help.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Workers:</a:t>
            </a:r>
            <a:r>
              <a:rPr lang="en-US" dirty="0"/>
              <a:t> Skilled independent freelancers lacking the capital for digital marketing.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46F6CE-614F-79DE-0394-87B88A3F2736}"/>
              </a:ext>
            </a:extLst>
          </p:cNvPr>
          <p:cNvSpPr txBox="1"/>
          <p:nvPr/>
        </p:nvSpPr>
        <p:spPr>
          <a:xfrm>
            <a:off x="838199" y="3921443"/>
            <a:ext cx="449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Value Proposition: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C2E67B-7941-EE6E-EE93-D1DC36F010F1}"/>
              </a:ext>
            </a:extLst>
          </p:cNvPr>
          <p:cNvSpPr txBox="1"/>
          <p:nvPr/>
        </p:nvSpPr>
        <p:spPr>
          <a:xfrm>
            <a:off x="838199" y="4317212"/>
            <a:ext cx="10515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Frictionless, language-agnostic service discovery. We provide guaranteed trust and transparent pricing for users, and a zero-marketing-cost job pipeline for workers.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699B23-B5B6-362F-2AFC-F1E205975202}"/>
              </a:ext>
            </a:extLst>
          </p:cNvPr>
          <p:cNvSpPr txBox="1"/>
          <p:nvPr/>
        </p:nvSpPr>
        <p:spPr>
          <a:xfrm>
            <a:off x="830423" y="4989980"/>
            <a:ext cx="449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Intellectual Property (IP):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BF6559-25B6-A0E9-B70F-4D42DAE878BA}"/>
              </a:ext>
            </a:extLst>
          </p:cNvPr>
          <p:cNvSpPr txBox="1"/>
          <p:nvPr/>
        </p:nvSpPr>
        <p:spPr>
          <a:xfrm>
            <a:off x="830423" y="5385749"/>
            <a:ext cx="10515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Copyrighted machine learning algorithms (Recommendation &amp; Pricing models)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Trademarked brand identity.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F31CAA-D9EF-04B3-8A3D-0FE2130DC8ED}"/>
              </a:ext>
            </a:extLst>
          </p:cNvPr>
          <p:cNvSpPr txBox="1"/>
          <p:nvPr/>
        </p:nvSpPr>
        <p:spPr>
          <a:xfrm>
            <a:off x="457200" y="77246"/>
            <a:ext cx="1143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AI-Powered Smart Service Marketplace with Intelligent Discovery and Dynamic Pricing Models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170039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879E4C-299F-8B45-3CD1-65A1653B2570}"/>
              </a:ext>
            </a:extLst>
          </p:cNvPr>
          <p:cNvSpPr txBox="1"/>
          <p:nvPr/>
        </p:nvSpPr>
        <p:spPr>
          <a:xfrm>
            <a:off x="457200" y="77246"/>
            <a:ext cx="1143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AI-Powered Smart Service Marketplace with Intelligent Discovery and Dynamic Pricing Models </a:t>
            </a: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356F28-EAFB-AACE-E608-2E16DBAA58CF}"/>
              </a:ext>
            </a:extLst>
          </p:cNvPr>
          <p:cNvSpPr txBox="1"/>
          <p:nvPr/>
        </p:nvSpPr>
        <p:spPr>
          <a:xfrm>
            <a:off x="433873" y="609600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Gantt Chart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C73928-59F0-AB81-FD39-06E355B060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544" y="971207"/>
            <a:ext cx="11002911" cy="491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3196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B379D7-D78B-14D7-03C9-4046BD88EAAF}"/>
              </a:ext>
            </a:extLst>
          </p:cNvPr>
          <p:cNvSpPr txBox="1"/>
          <p:nvPr/>
        </p:nvSpPr>
        <p:spPr>
          <a:xfrm>
            <a:off x="457200" y="77246"/>
            <a:ext cx="1143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AI-Powered Smart Service Marketplace with Intelligent Discovery and Dynamic Pricing Models </a:t>
            </a: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1F3C1E-8B44-69C3-B682-3F916D98220A}"/>
              </a:ext>
            </a:extLst>
          </p:cNvPr>
          <p:cNvSpPr txBox="1"/>
          <p:nvPr/>
        </p:nvSpPr>
        <p:spPr>
          <a:xfrm>
            <a:off x="440094" y="904653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Work breakdown structure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EFABD4-D0B0-E76E-A046-9FA98DD53B48}"/>
              </a:ext>
            </a:extLst>
          </p:cNvPr>
          <p:cNvSpPr txBox="1"/>
          <p:nvPr/>
        </p:nvSpPr>
        <p:spPr>
          <a:xfrm>
            <a:off x="457200" y="1676400"/>
            <a:ext cx="90678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Member 1: Bandara W.A.M.S. (NLP &amp; Intent Recognition)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Collect and preprocess a dataset of Singlish/English service queries.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Develop Intent Recognition algorithms to classify user problems.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Implement Entity Extraction logic to identify specific hardware/issues.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Deploy the NLP pipeline as an independent microservice.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Member 2: </a:t>
            </a:r>
            <a:r>
              <a:rPr lang="en-US" b="1" dirty="0" err="1"/>
              <a:t>Shiwanthika</a:t>
            </a:r>
            <a:r>
              <a:rPr lang="en-US" b="1" dirty="0"/>
              <a:t> M.M. (Worker Recommendation Engine)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Define weighted scoring metrics (Skill match, Distance, Education, Availability).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Develop the Hybrid Recommendation Algorithm.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Integrate real-time location data for dynamic matching.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Deploy the recommendation logic as an independent microservice.</a:t>
            </a:r>
          </a:p>
        </p:txBody>
      </p:sp>
    </p:spTree>
    <p:extLst>
      <p:ext uri="{BB962C8B-B14F-4D97-AF65-F5344CB8AC3E}">
        <p14:creationId xmlns:p14="http://schemas.microsoft.com/office/powerpoint/2010/main" val="30307952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3C2FBD-670C-4582-625E-BBC4534AA055}"/>
              </a:ext>
            </a:extLst>
          </p:cNvPr>
          <p:cNvSpPr txBox="1"/>
          <p:nvPr/>
        </p:nvSpPr>
        <p:spPr>
          <a:xfrm>
            <a:off x="685800" y="1524000"/>
            <a:ext cx="899393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Member 3: </a:t>
            </a:r>
            <a:r>
              <a:rPr lang="en-US" b="1" dirty="0" err="1"/>
              <a:t>Wijebandara</a:t>
            </a:r>
            <a:r>
              <a:rPr lang="en-US" b="1" dirty="0"/>
              <a:t> W.N.S.K. (Review Credibility &amp; Spam Filtering)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Collect training datasets of genuine and spam customer reviews.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Train a Sentiment Analysis model (e.g., Naive Bayes) to classify feedback.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Implement the automated "Trust Score" calculation algorithm.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Deploy the review auditing system as an independent microservice.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Member 4: Kumara A.J.T.M. (Dynamic Fare Estimation System)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Conduct market research to establish baseline labor and transport rates.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Develop a Regression Model to predict repair costs based on job complexity.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Implement the 3-Stage Pricing Logic (Transport fee, Inspection fee, Repair estimate).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Deploy the pricing prediction system as an independent microservice.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4D1B3A-ED13-2ED7-976E-6F4243A56775}"/>
              </a:ext>
            </a:extLst>
          </p:cNvPr>
          <p:cNvSpPr txBox="1"/>
          <p:nvPr/>
        </p:nvSpPr>
        <p:spPr>
          <a:xfrm>
            <a:off x="457200" y="838200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Work breakdown structure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B5583A-32D2-81CB-7E13-F595641B731A}"/>
              </a:ext>
            </a:extLst>
          </p:cNvPr>
          <p:cNvSpPr txBox="1"/>
          <p:nvPr/>
        </p:nvSpPr>
        <p:spPr>
          <a:xfrm>
            <a:off x="457200" y="77246"/>
            <a:ext cx="1143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AI-Powered Smart Service Marketplace with Intelligent Discovery and Dynamic Pricing Models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157232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3A484C-719F-2B11-FFB1-369D083329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762000"/>
            <a:ext cx="5676900" cy="56769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B2957F9-0104-0676-8CEB-81F00811C611}"/>
              </a:ext>
            </a:extLst>
          </p:cNvPr>
          <p:cNvSpPr txBox="1"/>
          <p:nvPr/>
        </p:nvSpPr>
        <p:spPr>
          <a:xfrm>
            <a:off x="838200" y="2838974"/>
            <a:ext cx="289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3749295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othecary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08376A6-FCE2-4A8E-BFFF-11B69BD93976}" vid="{0A5F165D-9E14-4628-BA29-A51D7051FDC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476C4981FE2047819081DBF807662E" ma:contentTypeVersion="14" ma:contentTypeDescription="Create a new document." ma:contentTypeScope="" ma:versionID="3e0aff317a34c13b9ffe6d6bae97ba52">
  <xsd:schema xmlns:xsd="http://www.w3.org/2001/XMLSchema" xmlns:xs="http://www.w3.org/2001/XMLSchema" xmlns:p="http://schemas.microsoft.com/office/2006/metadata/properties" xmlns:ns3="42d1e402-c42d-419a-bd83-d8d365e28f11" xmlns:ns4="fdf483cb-5937-4af3-915e-55fd2d7d3a90" targetNamespace="http://schemas.microsoft.com/office/2006/metadata/properties" ma:root="true" ma:fieldsID="a8297ac875bbd16b627fb1e03d384272" ns3:_="" ns4:_="">
    <xsd:import namespace="42d1e402-c42d-419a-bd83-d8d365e28f11"/>
    <xsd:import namespace="fdf483cb-5937-4af3-915e-55fd2d7d3a9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d1e402-c42d-419a-bd83-d8d365e28f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f483cb-5937-4af3-915e-55fd2d7d3a9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2d1e402-c42d-419a-bd83-d8d365e28f11" xsi:nil="true"/>
  </documentManagement>
</p:properties>
</file>

<file path=customXml/itemProps1.xml><?xml version="1.0" encoding="utf-8"?>
<ds:datastoreItem xmlns:ds="http://schemas.openxmlformats.org/officeDocument/2006/customXml" ds:itemID="{901A4370-D0BA-4DC6-BD51-167E9E90000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825C4F3-9A4B-4528-BB12-5C4F225A93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2d1e402-c42d-419a-bd83-d8d365e28f11"/>
    <ds:schemaRef ds:uri="fdf483cb-5937-4af3-915e-55fd2d7d3a9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CD51F9C-D2ED-43B0-AD9A-B6E6AB922127}">
  <ds:schemaRefs>
    <ds:schemaRef ds:uri="http://schemas.microsoft.com/office/infopath/2007/PartnerControls"/>
    <ds:schemaRef ds:uri="fdf483cb-5937-4af3-915e-55fd2d7d3a90"/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42d1e402-c42d-419a-bd83-d8d365e28f11"/>
    <ds:schemaRef ds:uri="http://schemas.microsoft.com/office/2006/documentManagement/type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1337832b-e06e-4e87-85f5-ecfde68f9c8e}" enabled="1" method="Standard" siteId="{44e3cf94-19c9-4e32-96c3-14f5bf01391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Proposal prsentation stuct (1)</Template>
  <TotalTime>5018</TotalTime>
  <Words>2787</Words>
  <Application>Microsoft Office PowerPoint</Application>
  <PresentationFormat>Widescreen</PresentationFormat>
  <Paragraphs>327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Adobe Devanagari</vt:lpstr>
      <vt:lpstr>Arial</vt:lpstr>
      <vt:lpstr>Calibri</vt:lpstr>
      <vt:lpstr>Cambria</vt:lpstr>
      <vt:lpstr>Symbol</vt:lpstr>
      <vt:lpstr>Times New Roman</vt:lpstr>
      <vt:lpstr>Wingdings</vt:lpstr>
      <vt:lpstr>Office Theme</vt:lpstr>
      <vt:lpstr>AI-Powered Smart Service Marketplace with Intelligent Discovery and Dynamic Pricing Models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IT22551320 | BANDARA W A M 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Koliya Pulasinghe</dc:creator>
  <cp:lastModifiedBy>BANDARA W A M S it22551320</cp:lastModifiedBy>
  <cp:revision>10</cp:revision>
  <dcterms:created xsi:type="dcterms:W3CDTF">2025-08-25T09:34:25Z</dcterms:created>
  <dcterms:modified xsi:type="dcterms:W3CDTF">2026-03-16T07:14:26Z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0x01010018476C4981FE2047819081DBF807662E</vt:lpwstr>
  </property>
</Properties>
</file>