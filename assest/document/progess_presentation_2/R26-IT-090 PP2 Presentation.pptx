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17"/>
  </p:notesMasterIdLst>
  <p:handoutMasterIdLst>
    <p:handoutMasterId r:id="rId18"/>
  </p:handoutMasterIdLst>
  <p:sldIdLst>
    <p:sldId id="297" r:id="rId5"/>
    <p:sldId id="264" r:id="rId6"/>
    <p:sldId id="305" r:id="rId7"/>
    <p:sldId id="306" r:id="rId8"/>
    <p:sldId id="316" r:id="rId9"/>
    <p:sldId id="317" r:id="rId10"/>
    <p:sldId id="308" r:id="rId11"/>
    <p:sldId id="309" r:id="rId12"/>
    <p:sldId id="310" r:id="rId13"/>
    <p:sldId id="324" r:id="rId14"/>
    <p:sldId id="322" r:id="rId15"/>
    <p:sldId id="323"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9CB1A60-B60A-4BFF-9FBF-1D60ECC3F4AD}" v="81" dt="2026-03-16T07:13:15.17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04" autoAdjust="0"/>
    <p:restoredTop sz="94660"/>
  </p:normalViewPr>
  <p:slideViewPr>
    <p:cSldViewPr>
      <p:cViewPr varScale="1">
        <p:scale>
          <a:sx n="82" d="100"/>
          <a:sy n="82" d="100"/>
        </p:scale>
        <p:origin x="710" y="53"/>
      </p:cViewPr>
      <p:guideLst>
        <p:guide orient="horz" pos="2160"/>
        <p:guide pos="3840"/>
      </p:guideLst>
    </p:cSldViewPr>
  </p:slideViewPr>
  <p:notesTextViewPr>
    <p:cViewPr>
      <p:scale>
        <a:sx n="1" d="1"/>
        <a:sy n="1" d="1"/>
      </p:scale>
      <p:origin x="0" y="0"/>
    </p:cViewPr>
  </p:notesTextViewPr>
  <p:notesViewPr>
    <p:cSldViewPr>
      <p:cViewPr varScale="1">
        <p:scale>
          <a:sx n="69" d="100"/>
          <a:sy n="69" d="100"/>
        </p:scale>
        <p:origin x="2568" y="3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9BAAE38-79BE-4082-9A4D-2BEC47341C04}" type="datetimeFigureOut">
              <a:rPr lang="en-US" smtClean="0"/>
              <a:t>8/31/2026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9F15613-D24F-46B4-9010-BD7B318E3C30}" type="slidenum">
              <a:rPr lang="en-US" smtClean="0"/>
              <a:t>‹#›</a:t>
            </a:fld>
            <a:endParaRPr lang="en-US"/>
          </a:p>
        </p:txBody>
      </p:sp>
    </p:spTree>
    <p:extLst>
      <p:ext uri="{BB962C8B-B14F-4D97-AF65-F5344CB8AC3E}">
        <p14:creationId xmlns:p14="http://schemas.microsoft.com/office/powerpoint/2010/main" val="28640503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5BCF22-2D75-4779-9C8B-6270AA3FA919}" type="datetimeFigureOut">
              <a:rPr lang="en-US" smtClean="0"/>
              <a:t>8/31/2026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0B8AC8-E212-48B2-9917-7448FC83DD17}" type="slidenum">
              <a:rPr lang="en-US" smtClean="0"/>
              <a:t>‹#›</a:t>
            </a:fld>
            <a:endParaRPr lang="en-US"/>
          </a:p>
        </p:txBody>
      </p:sp>
    </p:spTree>
    <p:extLst>
      <p:ext uri="{BB962C8B-B14F-4D97-AF65-F5344CB8AC3E}">
        <p14:creationId xmlns:p14="http://schemas.microsoft.com/office/powerpoint/2010/main" val="1786590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Project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762000"/>
            <a:ext cx="10363200" cy="1470025"/>
          </a:xfrm>
        </p:spPr>
        <p:txBody>
          <a:bodyPr/>
          <a:lstStyle>
            <a:lvl1pPr>
              <a:defRPr/>
            </a:lvl1pPr>
          </a:lstStyle>
          <a:p>
            <a:r>
              <a:rPr lang="en-US" dirty="0"/>
              <a:t>Add the Project Title</a:t>
            </a:r>
          </a:p>
        </p:txBody>
      </p:sp>
      <p:sp>
        <p:nvSpPr>
          <p:cNvPr id="3" name="Subtitle 2"/>
          <p:cNvSpPr>
            <a:spLocks noGrp="1"/>
          </p:cNvSpPr>
          <p:nvPr>
            <p:ph type="subTitle" idx="1" hasCustomPrompt="1"/>
          </p:nvPr>
        </p:nvSpPr>
        <p:spPr>
          <a:xfrm>
            <a:off x="1828800" y="25146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Project ID</a:t>
            </a:r>
          </a:p>
        </p:txBody>
      </p:sp>
      <p:pic>
        <p:nvPicPr>
          <p:cNvPr id="20" name="Picture 19" descr="A picture containing photo, table, person, monitor&#10;&#10;Description automatically generated">
            <a:extLst>
              <a:ext uri="{FF2B5EF4-FFF2-40B4-BE49-F238E27FC236}">
                <a16:creationId xmlns:a16="http://schemas.microsoft.com/office/drawing/2014/main" id="{C4A8CD1C-223D-4C87-9519-FDBD49BC597A}"/>
              </a:ext>
            </a:extLst>
          </p:cNvPr>
          <p:cNvPicPr>
            <a:picLocks noChangeAspect="1"/>
          </p:cNvPicPr>
          <p:nvPr userDrawn="1"/>
        </p:nvPicPr>
        <p:blipFill rotWithShape="1">
          <a:blip r:embed="rId2"/>
          <a:srcRect t="90286" r="71976"/>
          <a:stretch/>
        </p:blipFill>
        <p:spPr>
          <a:xfrm>
            <a:off x="0" y="6373302"/>
            <a:ext cx="2514600" cy="490308"/>
          </a:xfrm>
          <a:prstGeom prst="rect">
            <a:avLst/>
          </a:prstGeom>
        </p:spPr>
      </p:pic>
    </p:spTree>
    <p:extLst>
      <p:ext uri="{BB962C8B-B14F-4D97-AF65-F5344CB8AC3E}">
        <p14:creationId xmlns:p14="http://schemas.microsoft.com/office/powerpoint/2010/main" val="8564494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pic>
        <p:nvPicPr>
          <p:cNvPr id="20" name="Picture 19" descr="A picture containing photo, table, person, monitor&#10;&#10;Description automatically generated">
            <a:extLst>
              <a:ext uri="{FF2B5EF4-FFF2-40B4-BE49-F238E27FC236}">
                <a16:creationId xmlns:a16="http://schemas.microsoft.com/office/drawing/2014/main" id="{C4A8CD1C-223D-4C87-9519-FDBD49BC597A}"/>
              </a:ext>
            </a:extLst>
          </p:cNvPr>
          <p:cNvPicPr>
            <a:picLocks noChangeAspect="1"/>
          </p:cNvPicPr>
          <p:nvPr userDrawn="1"/>
        </p:nvPicPr>
        <p:blipFill rotWithShape="1">
          <a:blip r:embed="rId2"/>
          <a:srcRect t="90286" r="71976"/>
          <a:stretch/>
        </p:blipFill>
        <p:spPr>
          <a:xfrm>
            <a:off x="0" y="6373302"/>
            <a:ext cx="2514600" cy="490308"/>
          </a:xfrm>
          <a:prstGeom prst="rect">
            <a:avLst/>
          </a:prstGeom>
        </p:spPr>
      </p:pic>
    </p:spTree>
    <p:extLst>
      <p:ext uri="{BB962C8B-B14F-4D97-AF65-F5344CB8AC3E}">
        <p14:creationId xmlns:p14="http://schemas.microsoft.com/office/powerpoint/2010/main" val="24470881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Individual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二等辺三角形 9"/>
          <p:cNvSpPr/>
          <p:nvPr userDrawn="1"/>
        </p:nvSpPr>
        <p:spPr>
          <a:xfrm>
            <a:off x="0" y="6482208"/>
            <a:ext cx="12192000" cy="376686"/>
          </a:xfrm>
          <a:prstGeom prst="triangle">
            <a:avLst>
              <a:gd name="adj" fmla="val 62762"/>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dirty="0"/>
          </a:p>
        </p:txBody>
      </p:sp>
      <p:sp>
        <p:nvSpPr>
          <p:cNvPr id="13"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Tree>
    <p:extLst>
      <p:ext uri="{BB962C8B-B14F-4D97-AF65-F5344CB8AC3E}">
        <p14:creationId xmlns:p14="http://schemas.microsoft.com/office/powerpoint/2010/main" val="11888911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verall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202388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63084" y="2837087"/>
            <a:ext cx="10363200" cy="1362075"/>
          </a:xfrm>
        </p:spPr>
        <p:txBody>
          <a:bodyPr anchor="t"/>
          <a:lstStyle>
            <a:lvl1pPr algn="l">
              <a:defRPr sz="4000" b="1" cap="all"/>
            </a:lvl1pPr>
          </a:lstStyle>
          <a:p>
            <a:r>
              <a:rPr lang="en-US" dirty="0"/>
              <a:t>Section Title</a:t>
            </a:r>
          </a:p>
        </p:txBody>
      </p:sp>
      <p:sp>
        <p:nvSpPr>
          <p:cNvPr id="3" name="Text Placeholder 2"/>
          <p:cNvSpPr>
            <a:spLocks noGrp="1"/>
          </p:cNvSpPr>
          <p:nvPr>
            <p:ph type="body" idx="1" hasCustomPrompt="1"/>
          </p:nvPr>
        </p:nvSpPr>
        <p:spPr>
          <a:xfrm>
            <a:off x="963084" y="4237261"/>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Section Sub-Titles</a:t>
            </a:r>
          </a:p>
        </p:txBody>
      </p:sp>
      <p:sp>
        <p:nvSpPr>
          <p:cNvPr id="19" name="Rectangle 18">
            <a:extLst>
              <a:ext uri="{FF2B5EF4-FFF2-40B4-BE49-F238E27FC236}">
                <a16:creationId xmlns:a16="http://schemas.microsoft.com/office/drawing/2014/main" id="{77C29E58-4878-471A-A8CF-FA8607A4052E}"/>
              </a:ext>
            </a:extLst>
          </p:cNvPr>
          <p:cNvSpPr/>
          <p:nvPr userDrawn="1"/>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dirty="0">
                <a:solidFill>
                  <a:schemeClr val="tx1"/>
                </a:solidFill>
              </a:rPr>
              <a:t>ITXXXXXXXX</a:t>
            </a:r>
            <a:r>
              <a:rPr lang="en-US" sz="1800" dirty="0">
                <a:solidFill>
                  <a:schemeClr val="tx1"/>
                </a:solidFill>
              </a:rPr>
              <a:t>   |   &lt;</a:t>
            </a:r>
            <a:r>
              <a:rPr lang="en-US" sz="1800" b="1" dirty="0">
                <a:solidFill>
                  <a:schemeClr val="tx1"/>
                </a:solidFill>
              </a:rPr>
              <a:t>&lt;Student Name&gt;&gt;   </a:t>
            </a:r>
            <a:r>
              <a:rPr lang="en-US" sz="1800" dirty="0">
                <a:solidFill>
                  <a:schemeClr val="tx1"/>
                </a:solidFill>
              </a:rPr>
              <a:t>|   </a:t>
            </a:r>
            <a:r>
              <a:rPr lang="en-US" sz="1800" b="0" dirty="0">
                <a:solidFill>
                  <a:schemeClr val="tx1"/>
                </a:solidFill>
              </a:rPr>
              <a:t>&lt;&lt;Project ID&gt;&gt;</a:t>
            </a:r>
          </a:p>
        </p:txBody>
      </p:sp>
    </p:spTree>
    <p:extLst>
      <p:ext uri="{BB962C8B-B14F-4D97-AF65-F5344CB8AC3E}">
        <p14:creationId xmlns:p14="http://schemas.microsoft.com/office/powerpoint/2010/main" val="32933316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tudent Information Sec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63084" y="2837087"/>
            <a:ext cx="10363200" cy="1362075"/>
          </a:xfrm>
        </p:spPr>
        <p:txBody>
          <a:bodyPr anchor="t"/>
          <a:lstStyle>
            <a:lvl1pPr algn="l">
              <a:defRPr sz="4000" b="1" cap="all"/>
            </a:lvl1pPr>
          </a:lstStyle>
          <a:p>
            <a:r>
              <a:rPr lang="en-US" dirty="0"/>
              <a:t>Student IT Number | Student Name</a:t>
            </a:r>
          </a:p>
        </p:txBody>
      </p:sp>
      <p:sp>
        <p:nvSpPr>
          <p:cNvPr id="3" name="Text Placeholder 2"/>
          <p:cNvSpPr>
            <a:spLocks noGrp="1"/>
          </p:cNvSpPr>
          <p:nvPr>
            <p:ph type="body" idx="1" hasCustomPrompt="1"/>
          </p:nvPr>
        </p:nvSpPr>
        <p:spPr>
          <a:xfrm>
            <a:off x="963084" y="4237261"/>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Student’s Specialization</a:t>
            </a:r>
          </a:p>
        </p:txBody>
      </p:sp>
      <p:sp>
        <p:nvSpPr>
          <p:cNvPr id="13"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Tree>
    <p:extLst>
      <p:ext uri="{BB962C8B-B14F-4D97-AF65-F5344CB8AC3E}">
        <p14:creationId xmlns:p14="http://schemas.microsoft.com/office/powerpoint/2010/main" val="20085934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303586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570868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2650893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 name="二等辺三角形 9"/>
          <p:cNvSpPr/>
          <p:nvPr userDrawn="1"/>
        </p:nvSpPr>
        <p:spPr>
          <a:xfrm>
            <a:off x="0" y="6482208"/>
            <a:ext cx="12192000" cy="376686"/>
          </a:xfrm>
          <a:prstGeom prst="triangle">
            <a:avLst>
              <a:gd name="adj" fmla="val 62762"/>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1"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2" name="Slide Number Placeholder 5">
            <a:extLst>
              <a:ext uri="{FF2B5EF4-FFF2-40B4-BE49-F238E27FC236}">
                <a16:creationId xmlns:a16="http://schemas.microsoft.com/office/drawing/2014/main" id="{A75490AD-C6C9-4021-8C34-1F6444AB48BF}"/>
              </a:ext>
            </a:extLst>
          </p:cNvPr>
          <p:cNvSpPr txBox="1">
            <a:spLocks/>
          </p:cNvSpPr>
          <p:nvPr userDrawn="1"/>
        </p:nvSpPr>
        <p:spPr>
          <a:xfrm>
            <a:off x="11435142" y="6492875"/>
            <a:ext cx="680658" cy="365125"/>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7D6051F-EF20-4D26-A49B-A9D5F0B34CE8}" type="slidenum">
              <a:rPr lang="en-US" smtClean="0"/>
              <a:pPr/>
              <a:t>‹#›</a:t>
            </a:fld>
            <a:endParaRPr lang="en-US" dirty="0"/>
          </a:p>
        </p:txBody>
      </p:sp>
    </p:spTree>
    <p:extLst>
      <p:ext uri="{BB962C8B-B14F-4D97-AF65-F5344CB8AC3E}">
        <p14:creationId xmlns:p14="http://schemas.microsoft.com/office/powerpoint/2010/main" val="3352222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2" name="二等辺三角形 11"/>
          <p:cNvSpPr/>
          <p:nvPr userDrawn="1"/>
        </p:nvSpPr>
        <p:spPr>
          <a:xfrm>
            <a:off x="0" y="6406010"/>
            <a:ext cx="12192000" cy="452885"/>
          </a:xfrm>
          <a:prstGeom prst="triangle">
            <a:avLst>
              <a:gd name="adj" fmla="val 85448"/>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3" name="二等辺三角形 9"/>
          <p:cNvSpPr/>
          <p:nvPr userDrawn="1"/>
        </p:nvSpPr>
        <p:spPr>
          <a:xfrm>
            <a:off x="0" y="6482208"/>
            <a:ext cx="12192000" cy="376686"/>
          </a:xfrm>
          <a:prstGeom prst="triangle">
            <a:avLst>
              <a:gd name="adj" fmla="val 62762"/>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4"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Tree>
    <p:extLst>
      <p:ext uri="{BB962C8B-B14F-4D97-AF65-F5344CB8AC3E}">
        <p14:creationId xmlns:p14="http://schemas.microsoft.com/office/powerpoint/2010/main" val="5574300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Tree>
    <p:extLst>
      <p:ext uri="{BB962C8B-B14F-4D97-AF65-F5344CB8AC3E}">
        <p14:creationId xmlns:p14="http://schemas.microsoft.com/office/powerpoint/2010/main" val="7524049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Tree>
    <p:extLst>
      <p:ext uri="{BB962C8B-B14F-4D97-AF65-F5344CB8AC3E}">
        <p14:creationId xmlns:p14="http://schemas.microsoft.com/office/powerpoint/2010/main" val="36120786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二等辺三角形 9"/>
          <p:cNvSpPr/>
          <p:nvPr userDrawn="1"/>
        </p:nvSpPr>
        <p:spPr>
          <a:xfrm>
            <a:off x="0" y="6482208"/>
            <a:ext cx="12192000" cy="376686"/>
          </a:xfrm>
          <a:prstGeom prst="triangle">
            <a:avLst>
              <a:gd name="adj" fmla="val 62762"/>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3"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Tree>
    <p:extLst>
      <p:ext uri="{BB962C8B-B14F-4D97-AF65-F5344CB8AC3E}">
        <p14:creationId xmlns:p14="http://schemas.microsoft.com/office/powerpoint/2010/main" val="3310850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304800"/>
            <a:ext cx="11684000" cy="79216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04800" y="1143000"/>
            <a:ext cx="11684000" cy="5181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5">
            <a:extLst>
              <a:ext uri="{FF2B5EF4-FFF2-40B4-BE49-F238E27FC236}">
                <a16:creationId xmlns:a16="http://schemas.microsoft.com/office/drawing/2014/main" id="{C064364F-1F37-4C7B-B31F-2D4F671B2CB9}"/>
              </a:ext>
            </a:extLst>
          </p:cNvPr>
          <p:cNvSpPr txBox="1">
            <a:spLocks/>
          </p:cNvSpPr>
          <p:nvPr userDrawn="1"/>
        </p:nvSpPr>
        <p:spPr>
          <a:xfrm>
            <a:off x="11435142" y="6492875"/>
            <a:ext cx="680658" cy="365125"/>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7D6051F-EF20-4D26-A49B-A9D5F0B34CE8}" type="slidenum">
              <a:rPr lang="en-US" smtClean="0"/>
              <a:pPr/>
              <a:t>‹#›</a:t>
            </a:fld>
            <a:endParaRPr lang="en-US" dirty="0"/>
          </a:p>
        </p:txBody>
      </p:sp>
      <p:pic>
        <p:nvPicPr>
          <p:cNvPr id="7" name="Picture 6" descr="A picture containing photo, table, person, monitor&#10;&#10;Description automatically generated">
            <a:extLst>
              <a:ext uri="{FF2B5EF4-FFF2-40B4-BE49-F238E27FC236}">
                <a16:creationId xmlns:a16="http://schemas.microsoft.com/office/drawing/2014/main" id="{0503738D-67F6-4FC8-88E8-C0D768AD3312}"/>
              </a:ext>
            </a:extLst>
          </p:cNvPr>
          <p:cNvPicPr>
            <a:picLocks noChangeAspect="1"/>
          </p:cNvPicPr>
          <p:nvPr userDrawn="1"/>
        </p:nvPicPr>
        <p:blipFill rotWithShape="1">
          <a:blip r:embed="rId16"/>
          <a:srcRect t="90286" r="71976"/>
          <a:stretch/>
        </p:blipFill>
        <p:spPr>
          <a:xfrm>
            <a:off x="0" y="6373302"/>
            <a:ext cx="2514600" cy="490308"/>
          </a:xfrm>
          <a:prstGeom prst="rect">
            <a:avLst/>
          </a:prstGeom>
        </p:spPr>
      </p:pic>
      <p:sp>
        <p:nvSpPr>
          <p:cNvPr id="4" name="TextBox 3">
            <a:extLst>
              <a:ext uri="{FF2B5EF4-FFF2-40B4-BE49-F238E27FC236}">
                <a16:creationId xmlns:a16="http://schemas.microsoft.com/office/drawing/2014/main" id="{A16EC11E-4ADA-413C-92B1-C0871F068AF1}"/>
              </a:ext>
            </a:extLst>
          </p:cNvPr>
          <p:cNvSpPr txBox="1"/>
          <p:nvPr userDrawn="1"/>
        </p:nvSpPr>
        <p:spPr>
          <a:xfrm>
            <a:off x="10287000" y="6536937"/>
            <a:ext cx="1066800" cy="276999"/>
          </a:xfrm>
          <a:prstGeom prst="rect">
            <a:avLst/>
          </a:prstGeom>
          <a:noFill/>
        </p:spPr>
        <p:txBody>
          <a:bodyPr wrap="square" rtlCol="0">
            <a:spAutoFit/>
          </a:bodyPr>
          <a:lstStyle/>
          <a:p>
            <a:fld id="{98C4007C-554A-4B16-A31C-089CB53EF86F}" type="datetime1">
              <a:rPr lang="en-US" sz="1200" b="1" smtClean="0"/>
              <a:t>8/31/2026</a:t>
            </a:fld>
            <a:endParaRPr lang="en-US" sz="1200" b="1" dirty="0"/>
          </a:p>
        </p:txBody>
      </p:sp>
    </p:spTree>
    <p:extLst>
      <p:ext uri="{BB962C8B-B14F-4D97-AF65-F5344CB8AC3E}">
        <p14:creationId xmlns:p14="http://schemas.microsoft.com/office/powerpoint/2010/main" val="4137453564"/>
      </p:ext>
    </p:extLst>
  </p:cSld>
  <p:clrMap bg1="lt1" tx1="dk1" bg2="lt2" tx2="dk2" accent1="accent1" accent2="accent2" accent3="accent3" accent4="accent4" accent5="accent5" accent6="accent6" hlink="hlink" folHlink="folHlink"/>
  <p:sldLayoutIdLst>
    <p:sldLayoutId id="2147483661" r:id="rId1"/>
    <p:sldLayoutId id="2147483663" r:id="rId2"/>
    <p:sldLayoutId id="2147483650" r:id="rId3"/>
    <p:sldLayoutId id="2147483662" r:id="rId4"/>
    <p:sldLayoutId id="2147483651" r:id="rId5"/>
    <p:sldLayoutId id="2147483660"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hdr="0" ftr="0"/>
  <p:txStyles>
    <p:titleStyle>
      <a:lvl1pPr algn="ctr" defTabSz="914400" rtl="0" eaLnBrk="1" latinLnBrk="0" hangingPunct="1">
        <a:spcBef>
          <a:spcPct val="0"/>
        </a:spcBef>
        <a:buNone/>
        <a:defRPr sz="4400" kern="1200">
          <a:solidFill>
            <a:schemeClr val="tx1"/>
          </a:solidFill>
          <a:latin typeface="Adobe Devanagari" pitchFamily="18" charset="0"/>
          <a:ea typeface="+mj-ea"/>
          <a:cs typeface="Adobe Devanagari" pitchFamily="18"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Wingdings" pitchFamily="2" charset="2"/>
        <a:buChar char="Ø"/>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Wingdings" pitchFamily="2" charset="2"/>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pn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0B645-3AA4-2E3D-571F-786B8D4B6325}"/>
              </a:ext>
            </a:extLst>
          </p:cNvPr>
          <p:cNvSpPr>
            <a:spLocks noGrp="1"/>
          </p:cNvSpPr>
          <p:nvPr>
            <p:ph type="ctrTitle"/>
          </p:nvPr>
        </p:nvSpPr>
        <p:spPr>
          <a:xfrm>
            <a:off x="914400" y="990600"/>
            <a:ext cx="10363200" cy="1470025"/>
          </a:xfrm>
        </p:spPr>
        <p:txBody>
          <a:bodyPr>
            <a:normAutofit fontScale="90000"/>
          </a:bodyPr>
          <a:lstStyle/>
          <a:p>
            <a:r>
              <a:rPr lang="en-US" b="1" dirty="0"/>
              <a:t>AI-Powered Smart Service Marketplace with Intelligent Discovery and Dynamic Pricing Models </a:t>
            </a:r>
          </a:p>
        </p:txBody>
      </p:sp>
      <p:sp>
        <p:nvSpPr>
          <p:cNvPr id="3" name="Subtitle 2">
            <a:extLst>
              <a:ext uri="{FF2B5EF4-FFF2-40B4-BE49-F238E27FC236}">
                <a16:creationId xmlns:a16="http://schemas.microsoft.com/office/drawing/2014/main" id="{82D5A9AC-835B-6C6C-5086-297B213B4CAF}"/>
              </a:ext>
            </a:extLst>
          </p:cNvPr>
          <p:cNvSpPr>
            <a:spLocks noGrp="1"/>
          </p:cNvSpPr>
          <p:nvPr>
            <p:ph type="subTitle" idx="1"/>
          </p:nvPr>
        </p:nvSpPr>
        <p:spPr>
          <a:xfrm>
            <a:off x="1828800" y="3276600"/>
            <a:ext cx="8534400" cy="914400"/>
          </a:xfrm>
        </p:spPr>
        <p:txBody>
          <a:bodyPr/>
          <a:lstStyle/>
          <a:p>
            <a:r>
              <a:rPr lang="en-US" b="1" dirty="0">
                <a:solidFill>
                  <a:schemeClr val="tx1"/>
                </a:solidFill>
              </a:rPr>
              <a:t>R26-IT-090</a:t>
            </a:r>
            <a:r>
              <a:rPr lang="en-US" dirty="0"/>
              <a:t> </a:t>
            </a:r>
          </a:p>
        </p:txBody>
      </p:sp>
      <p:sp>
        <p:nvSpPr>
          <p:cNvPr id="4" name="Subtitle 2">
            <a:extLst>
              <a:ext uri="{FF2B5EF4-FFF2-40B4-BE49-F238E27FC236}">
                <a16:creationId xmlns:a16="http://schemas.microsoft.com/office/drawing/2014/main" id="{8BD08EED-C956-7807-A3D6-576636715EF1}"/>
              </a:ext>
            </a:extLst>
          </p:cNvPr>
          <p:cNvSpPr txBox="1">
            <a:spLocks/>
          </p:cNvSpPr>
          <p:nvPr/>
        </p:nvSpPr>
        <p:spPr>
          <a:xfrm>
            <a:off x="1828800" y="4092575"/>
            <a:ext cx="8534400" cy="9144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Wingdings" pitchFamily="2" charset="2"/>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Wingdings" pitchFamily="2" charset="2"/>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en-US" b="1" dirty="0">
                <a:solidFill>
                  <a:schemeClr val="tx1"/>
                </a:solidFill>
              </a:rPr>
              <a:t>PP-2</a:t>
            </a:r>
          </a:p>
          <a:p>
            <a:endParaRPr lang="en-US" dirty="0"/>
          </a:p>
        </p:txBody>
      </p:sp>
    </p:spTree>
    <p:extLst>
      <p:ext uri="{BB962C8B-B14F-4D97-AF65-F5344CB8AC3E}">
        <p14:creationId xmlns:p14="http://schemas.microsoft.com/office/powerpoint/2010/main" val="7715186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A755AF9-6AEA-4BCA-A1A2-C57A58214B9E}"/>
              </a:ext>
            </a:extLst>
          </p:cNvPr>
          <p:cNvSpPr>
            <a:spLocks noGrp="1"/>
          </p:cNvSpPr>
          <p:nvPr>
            <p:ph type="title"/>
          </p:nvPr>
        </p:nvSpPr>
        <p:spPr>
          <a:xfrm>
            <a:off x="963084" y="2505548"/>
            <a:ext cx="10363200" cy="755426"/>
          </a:xfrm>
        </p:spPr>
        <p:txBody>
          <a:bodyPr/>
          <a:lstStyle/>
          <a:p>
            <a:r>
              <a:rPr lang="en-US" dirty="0"/>
              <a:t>IT22551320 | BANDARA W A M S</a:t>
            </a:r>
          </a:p>
        </p:txBody>
      </p:sp>
      <p:sp>
        <p:nvSpPr>
          <p:cNvPr id="6" name="Text Placeholder 5">
            <a:extLst>
              <a:ext uri="{FF2B5EF4-FFF2-40B4-BE49-F238E27FC236}">
                <a16:creationId xmlns:a16="http://schemas.microsoft.com/office/drawing/2014/main" id="{07A91C59-28F0-4A9C-ACA2-19A536A0C380}"/>
              </a:ext>
            </a:extLst>
          </p:cNvPr>
          <p:cNvSpPr>
            <a:spLocks noGrp="1"/>
          </p:cNvSpPr>
          <p:nvPr>
            <p:ph type="body" idx="1"/>
          </p:nvPr>
        </p:nvSpPr>
        <p:spPr>
          <a:xfrm>
            <a:off x="963084" y="3764323"/>
            <a:ext cx="10363200" cy="609599"/>
          </a:xfrm>
        </p:spPr>
        <p:txBody>
          <a:bodyPr>
            <a:normAutofit/>
          </a:bodyPr>
          <a:lstStyle/>
          <a:p>
            <a:r>
              <a:rPr lang="en-US" sz="2800" b="1" dirty="0">
                <a:solidFill>
                  <a:schemeClr val="tx1"/>
                </a:solidFill>
              </a:rPr>
              <a:t>Intelligent Service Discovery and Intent Recognition System</a:t>
            </a:r>
          </a:p>
        </p:txBody>
      </p:sp>
      <p:sp>
        <p:nvSpPr>
          <p:cNvPr id="4" name="Rectangle 3">
            <a:extLst>
              <a:ext uri="{FF2B5EF4-FFF2-40B4-BE49-F238E27FC236}">
                <a16:creationId xmlns:a16="http://schemas.microsoft.com/office/drawing/2014/main" id="{5FB98E66-DBD5-4B29-AC68-A58A70C64231}"/>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dirty="0">
                <a:solidFill>
                  <a:schemeClr val="tx1"/>
                </a:solidFill>
              </a:rPr>
              <a:t>IT22551320</a:t>
            </a:r>
            <a:r>
              <a:rPr lang="en-US" sz="1800" dirty="0">
                <a:solidFill>
                  <a:schemeClr val="tx1"/>
                </a:solidFill>
              </a:rPr>
              <a:t>   |   </a:t>
            </a:r>
            <a:r>
              <a:rPr lang="en-US" sz="1800" b="1" dirty="0">
                <a:solidFill>
                  <a:schemeClr val="tx1"/>
                </a:solidFill>
              </a:rPr>
              <a:t>Bandara W A M S  </a:t>
            </a:r>
            <a:r>
              <a:rPr lang="en-US" sz="1800" dirty="0">
                <a:solidFill>
                  <a:schemeClr val="tx1"/>
                </a:solidFill>
              </a:rPr>
              <a:t>|   </a:t>
            </a:r>
            <a:r>
              <a:rPr lang="en-US" b="1" dirty="0">
                <a:solidFill>
                  <a:schemeClr val="tx1"/>
                </a:solidFill>
              </a:rPr>
              <a:t>R26-IT-090</a:t>
            </a:r>
            <a:endParaRPr lang="en-US" sz="1800" b="1" dirty="0">
              <a:solidFill>
                <a:schemeClr val="tx1"/>
              </a:solidFill>
            </a:endParaRPr>
          </a:p>
        </p:txBody>
      </p:sp>
      <p:sp>
        <p:nvSpPr>
          <p:cNvPr id="3" name="Rectangle 2">
            <a:extLst>
              <a:ext uri="{FF2B5EF4-FFF2-40B4-BE49-F238E27FC236}">
                <a16:creationId xmlns:a16="http://schemas.microsoft.com/office/drawing/2014/main" id="{6C2B1B0E-3A95-38D8-C68C-389F644DF9F9}"/>
              </a:ext>
            </a:extLst>
          </p:cNvPr>
          <p:cNvSpPr/>
          <p:nvPr/>
        </p:nvSpPr>
        <p:spPr>
          <a:xfrm>
            <a:off x="10134600" y="152400"/>
            <a:ext cx="1981200" cy="2286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11">
            <a:extLst>
              <a:ext uri="{FF2B5EF4-FFF2-40B4-BE49-F238E27FC236}">
                <a16:creationId xmlns:a16="http://schemas.microsoft.com/office/drawing/2014/main" id="{3E9FF3FF-FB4E-F30C-7868-4E7058825E62}"/>
              </a:ext>
            </a:extLst>
          </p:cNvPr>
          <p:cNvPicPr>
            <a:picLocks noChangeAspect="1"/>
          </p:cNvPicPr>
          <p:nvPr/>
        </p:nvPicPr>
        <p:blipFill>
          <a:blip r:embed="rId2" cstate="print">
            <a:extLst>
              <a:ext uri="{28A0092B-C50C-407E-A947-70E740481C1C}">
                <a14:useLocalDpi xmlns:a14="http://schemas.microsoft.com/office/drawing/2010/main" val="0"/>
              </a:ext>
            </a:extLst>
          </a:blip>
          <a:srcRect l="4936" t="-638" r="9504" b="638"/>
          <a:stretch>
            <a:fillRect/>
          </a:stretch>
        </p:blipFill>
        <p:spPr>
          <a:xfrm>
            <a:off x="10127550" y="137626"/>
            <a:ext cx="1981200" cy="2315547"/>
          </a:xfrm>
          <a:prstGeom prst="rect">
            <a:avLst/>
          </a:prstGeom>
        </p:spPr>
      </p:pic>
    </p:spTree>
    <p:extLst>
      <p:ext uri="{BB962C8B-B14F-4D97-AF65-F5344CB8AC3E}">
        <p14:creationId xmlns:p14="http://schemas.microsoft.com/office/powerpoint/2010/main" val="21814099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83CDAC6-14FA-C32C-FA55-013B6D35CCD5}"/>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dirty="0">
                <a:solidFill>
                  <a:schemeClr val="tx1"/>
                </a:solidFill>
              </a:rPr>
              <a:t>IT22551320</a:t>
            </a:r>
            <a:r>
              <a:rPr lang="en-US" sz="1800" dirty="0">
                <a:solidFill>
                  <a:schemeClr val="tx1"/>
                </a:solidFill>
              </a:rPr>
              <a:t>   |   </a:t>
            </a:r>
            <a:r>
              <a:rPr lang="en-US" sz="1800" b="1" dirty="0">
                <a:solidFill>
                  <a:schemeClr val="tx1"/>
                </a:solidFill>
              </a:rPr>
              <a:t>Bandara W A M S  </a:t>
            </a:r>
            <a:r>
              <a:rPr lang="en-US" sz="1800" dirty="0">
                <a:solidFill>
                  <a:schemeClr val="tx1"/>
                </a:solidFill>
              </a:rPr>
              <a:t>|   </a:t>
            </a:r>
            <a:r>
              <a:rPr lang="en-US" b="1" dirty="0">
                <a:solidFill>
                  <a:schemeClr val="tx1"/>
                </a:solidFill>
              </a:rPr>
              <a:t>R26-IT-090</a:t>
            </a:r>
            <a:endParaRPr lang="en-US" sz="1800" b="1" dirty="0">
              <a:solidFill>
                <a:schemeClr val="tx1"/>
              </a:solidFill>
            </a:endParaRPr>
          </a:p>
        </p:txBody>
      </p:sp>
      <p:sp>
        <p:nvSpPr>
          <p:cNvPr id="4" name="TextBox 3">
            <a:extLst>
              <a:ext uri="{FF2B5EF4-FFF2-40B4-BE49-F238E27FC236}">
                <a16:creationId xmlns:a16="http://schemas.microsoft.com/office/drawing/2014/main" id="{43CE4230-E162-F049-103A-8DB6670B02AD}"/>
              </a:ext>
            </a:extLst>
          </p:cNvPr>
          <p:cNvSpPr txBox="1"/>
          <p:nvPr/>
        </p:nvSpPr>
        <p:spPr>
          <a:xfrm>
            <a:off x="2971800" y="11668"/>
            <a:ext cx="7007506" cy="369332"/>
          </a:xfrm>
          <a:prstGeom prst="rect">
            <a:avLst/>
          </a:prstGeom>
          <a:noFill/>
        </p:spPr>
        <p:txBody>
          <a:bodyPr wrap="square">
            <a:spAutoFit/>
          </a:bodyPr>
          <a:lstStyle/>
          <a:p>
            <a:r>
              <a:rPr lang="en-US" sz="1800" b="1" dirty="0">
                <a:solidFill>
                  <a:schemeClr val="tx1"/>
                </a:solidFill>
              </a:rPr>
              <a:t>Intelligent Service Discovery and Intent Recognition System</a:t>
            </a:r>
          </a:p>
        </p:txBody>
      </p:sp>
      <p:sp>
        <p:nvSpPr>
          <p:cNvPr id="5" name="TextBox 4">
            <a:extLst>
              <a:ext uri="{FF2B5EF4-FFF2-40B4-BE49-F238E27FC236}">
                <a16:creationId xmlns:a16="http://schemas.microsoft.com/office/drawing/2014/main" id="{DA42A82F-E21F-EE9C-2673-DC4D781F5311}"/>
              </a:ext>
            </a:extLst>
          </p:cNvPr>
          <p:cNvSpPr txBox="1"/>
          <p:nvPr/>
        </p:nvSpPr>
        <p:spPr>
          <a:xfrm>
            <a:off x="837234" y="1263152"/>
            <a:ext cx="6706566" cy="369332"/>
          </a:xfrm>
          <a:prstGeom prst="rect">
            <a:avLst/>
          </a:prstGeom>
          <a:noFill/>
        </p:spPr>
        <p:txBody>
          <a:bodyPr wrap="square" rtlCol="0">
            <a:spAutoFit/>
          </a:bodyPr>
          <a:lstStyle/>
          <a:p>
            <a:r>
              <a:rPr lang="en-US" b="1" dirty="0"/>
              <a:t>How the Solution Addresses the Sub-Problem</a:t>
            </a:r>
          </a:p>
        </p:txBody>
      </p:sp>
      <p:sp>
        <p:nvSpPr>
          <p:cNvPr id="6" name="TextBox 5">
            <a:extLst>
              <a:ext uri="{FF2B5EF4-FFF2-40B4-BE49-F238E27FC236}">
                <a16:creationId xmlns:a16="http://schemas.microsoft.com/office/drawing/2014/main" id="{6DE25C84-8651-4DB5-3C05-BE60BE073599}"/>
              </a:ext>
            </a:extLst>
          </p:cNvPr>
          <p:cNvSpPr txBox="1"/>
          <p:nvPr/>
        </p:nvSpPr>
        <p:spPr>
          <a:xfrm>
            <a:off x="837234" y="1874961"/>
            <a:ext cx="10744199" cy="1200329"/>
          </a:xfrm>
          <a:prstGeom prst="rect">
            <a:avLst/>
          </a:prstGeom>
          <a:noFill/>
        </p:spPr>
        <p:txBody>
          <a:bodyPr wrap="square" rtlCol="0">
            <a:spAutoFit/>
          </a:bodyPr>
          <a:lstStyle/>
          <a:p>
            <a:pPr marL="285750" indent="-285750">
              <a:buFont typeface="Arial" panose="020B0604020202020204" pitchFamily="34" charset="0"/>
              <a:buChar char="•"/>
            </a:pPr>
            <a:r>
              <a:rPr lang="en-US" dirty="0"/>
              <a:t>Homeowners describe faults in informal Singlish (e.g., </a:t>
            </a:r>
            <a:r>
              <a:rPr lang="en-US" i="1" dirty="0"/>
              <a:t>"</a:t>
            </a:r>
            <a:r>
              <a:rPr lang="en-US" i="1" dirty="0" err="1"/>
              <a:t>watura</a:t>
            </a:r>
            <a:r>
              <a:rPr lang="en-US" i="1" dirty="0"/>
              <a:t> bata </a:t>
            </a:r>
            <a:r>
              <a:rPr lang="en-US" i="1" dirty="0" err="1"/>
              <a:t>pupurala</a:t>
            </a:r>
            <a:r>
              <a:rPr lang="en-US" i="1" dirty="0"/>
              <a:t>"</a:t>
            </a:r>
            <a:r>
              <a:rPr lang="en-US" dirty="0"/>
              <a:t>)  keyword-based search completely fails on these inputs</a:t>
            </a:r>
          </a:p>
          <a:p>
            <a:endParaRPr lang="en-US" dirty="0"/>
          </a:p>
          <a:p>
            <a:pPr marL="285750" indent="-285750">
              <a:buFont typeface="Arial" panose="020B0604020202020204" pitchFamily="34" charset="0"/>
              <a:buChar char="•"/>
            </a:pPr>
            <a:r>
              <a:rPr lang="en-US" dirty="0"/>
              <a:t>Output: structured { </a:t>
            </a:r>
            <a:r>
              <a:rPr lang="en-US" dirty="0" err="1"/>
              <a:t>workerCategory</a:t>
            </a:r>
            <a:r>
              <a:rPr lang="en-US" dirty="0"/>
              <a:t>} payload passed to the Recommendation Engine</a:t>
            </a:r>
          </a:p>
        </p:txBody>
      </p:sp>
      <p:sp>
        <p:nvSpPr>
          <p:cNvPr id="11" name="TextBox 10">
            <a:extLst>
              <a:ext uri="{FF2B5EF4-FFF2-40B4-BE49-F238E27FC236}">
                <a16:creationId xmlns:a16="http://schemas.microsoft.com/office/drawing/2014/main" id="{8927ACEF-CCD5-E606-6E56-95DE7B65BD6E}"/>
              </a:ext>
            </a:extLst>
          </p:cNvPr>
          <p:cNvSpPr txBox="1"/>
          <p:nvPr/>
        </p:nvSpPr>
        <p:spPr>
          <a:xfrm>
            <a:off x="837234" y="3750900"/>
            <a:ext cx="6706566" cy="369332"/>
          </a:xfrm>
          <a:prstGeom prst="rect">
            <a:avLst/>
          </a:prstGeom>
          <a:noFill/>
        </p:spPr>
        <p:txBody>
          <a:bodyPr wrap="square" rtlCol="0">
            <a:spAutoFit/>
          </a:bodyPr>
          <a:lstStyle/>
          <a:p>
            <a:r>
              <a:rPr lang="en-US" b="1" dirty="0"/>
              <a:t>User Requirements Addressed</a:t>
            </a:r>
            <a:endParaRPr lang="en-US" dirty="0"/>
          </a:p>
        </p:txBody>
      </p:sp>
      <p:sp>
        <p:nvSpPr>
          <p:cNvPr id="12" name="TextBox 11">
            <a:extLst>
              <a:ext uri="{FF2B5EF4-FFF2-40B4-BE49-F238E27FC236}">
                <a16:creationId xmlns:a16="http://schemas.microsoft.com/office/drawing/2014/main" id="{7D3D8682-5DCD-B2CC-1077-86CFCB6E976A}"/>
              </a:ext>
            </a:extLst>
          </p:cNvPr>
          <p:cNvSpPr txBox="1"/>
          <p:nvPr/>
        </p:nvSpPr>
        <p:spPr>
          <a:xfrm>
            <a:off x="837234" y="4218323"/>
            <a:ext cx="10744199" cy="923330"/>
          </a:xfrm>
          <a:prstGeom prst="rect">
            <a:avLst/>
          </a:prstGeom>
          <a:noFill/>
        </p:spPr>
        <p:txBody>
          <a:bodyPr wrap="square" rtlCol="0">
            <a:spAutoFit/>
          </a:bodyPr>
          <a:lstStyle/>
          <a:p>
            <a:pPr marL="285750" indent="-285750">
              <a:buFont typeface="Arial" panose="020B0604020202020204" pitchFamily="34" charset="0"/>
              <a:buChar char="•"/>
            </a:pPr>
            <a:r>
              <a:rPr lang="en-US" dirty="0"/>
              <a:t>Accept unstructured Singlish/English queries  no technical keywords required</a:t>
            </a:r>
          </a:p>
          <a:p>
            <a:pPr marL="285750" indent="-285750">
              <a:buFont typeface="Arial" panose="020B0604020202020204" pitchFamily="34" charset="0"/>
              <a:buChar char="•"/>
            </a:pPr>
            <a:r>
              <a:rPr lang="en-US" dirty="0"/>
              <a:t>Classify query into the correct worker category (Plumber, Electrician, Carpenter, etc.)</a:t>
            </a:r>
          </a:p>
          <a:p>
            <a:pPr marL="285750" indent="-285750">
              <a:buFont typeface="Arial" panose="020B0604020202020204" pitchFamily="34" charset="0"/>
              <a:buChar char="•"/>
            </a:pPr>
            <a:r>
              <a:rPr lang="en-US" dirty="0"/>
              <a:t>Response returned under 1s</a:t>
            </a:r>
          </a:p>
        </p:txBody>
      </p:sp>
    </p:spTree>
    <p:extLst>
      <p:ext uri="{BB962C8B-B14F-4D97-AF65-F5344CB8AC3E}">
        <p14:creationId xmlns:p14="http://schemas.microsoft.com/office/powerpoint/2010/main" val="358613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ED0083-48E5-7520-474E-DC3C38511842}"/>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dirty="0">
                <a:solidFill>
                  <a:schemeClr val="tx1"/>
                </a:solidFill>
              </a:rPr>
              <a:t>IT22551320</a:t>
            </a:r>
            <a:r>
              <a:rPr lang="en-US" sz="1800" dirty="0">
                <a:solidFill>
                  <a:schemeClr val="tx1"/>
                </a:solidFill>
              </a:rPr>
              <a:t>   |   </a:t>
            </a:r>
            <a:r>
              <a:rPr lang="en-US" sz="1800" b="1" dirty="0">
                <a:solidFill>
                  <a:schemeClr val="tx1"/>
                </a:solidFill>
              </a:rPr>
              <a:t>Bandara W A M S  </a:t>
            </a:r>
            <a:r>
              <a:rPr lang="en-US" sz="1800" dirty="0">
                <a:solidFill>
                  <a:schemeClr val="tx1"/>
                </a:solidFill>
              </a:rPr>
              <a:t>|   </a:t>
            </a:r>
            <a:r>
              <a:rPr lang="en-US" b="1" dirty="0">
                <a:solidFill>
                  <a:schemeClr val="tx1"/>
                </a:solidFill>
              </a:rPr>
              <a:t>R26-IT-090</a:t>
            </a:r>
            <a:endParaRPr lang="en-US" sz="1800" b="1" dirty="0">
              <a:solidFill>
                <a:schemeClr val="tx1"/>
              </a:solidFill>
            </a:endParaRPr>
          </a:p>
        </p:txBody>
      </p:sp>
      <p:sp>
        <p:nvSpPr>
          <p:cNvPr id="3" name="TextBox 2">
            <a:extLst>
              <a:ext uri="{FF2B5EF4-FFF2-40B4-BE49-F238E27FC236}">
                <a16:creationId xmlns:a16="http://schemas.microsoft.com/office/drawing/2014/main" id="{2084FEA3-5A41-328B-EA35-FE4A3DE62275}"/>
              </a:ext>
            </a:extLst>
          </p:cNvPr>
          <p:cNvSpPr txBox="1"/>
          <p:nvPr/>
        </p:nvSpPr>
        <p:spPr>
          <a:xfrm>
            <a:off x="2971800" y="11668"/>
            <a:ext cx="7007506" cy="369332"/>
          </a:xfrm>
          <a:prstGeom prst="rect">
            <a:avLst/>
          </a:prstGeom>
          <a:noFill/>
        </p:spPr>
        <p:txBody>
          <a:bodyPr wrap="square">
            <a:spAutoFit/>
          </a:bodyPr>
          <a:lstStyle/>
          <a:p>
            <a:r>
              <a:rPr lang="en-US" sz="1800" b="1" dirty="0">
                <a:solidFill>
                  <a:schemeClr val="tx1"/>
                </a:solidFill>
              </a:rPr>
              <a:t>Intelligent Service Discovery and Intent Recognition System</a:t>
            </a:r>
          </a:p>
        </p:txBody>
      </p:sp>
      <p:sp>
        <p:nvSpPr>
          <p:cNvPr id="4" name="TextBox 3">
            <a:extLst>
              <a:ext uri="{FF2B5EF4-FFF2-40B4-BE49-F238E27FC236}">
                <a16:creationId xmlns:a16="http://schemas.microsoft.com/office/drawing/2014/main" id="{A8128DF3-7513-612C-4E24-4226BF35B5EC}"/>
              </a:ext>
            </a:extLst>
          </p:cNvPr>
          <p:cNvSpPr txBox="1"/>
          <p:nvPr/>
        </p:nvSpPr>
        <p:spPr>
          <a:xfrm>
            <a:off x="837234" y="1008927"/>
            <a:ext cx="4572965" cy="369332"/>
          </a:xfrm>
          <a:prstGeom prst="rect">
            <a:avLst/>
          </a:prstGeom>
          <a:noFill/>
        </p:spPr>
        <p:txBody>
          <a:bodyPr wrap="square" rtlCol="0">
            <a:spAutoFit/>
          </a:bodyPr>
          <a:lstStyle/>
          <a:p>
            <a:r>
              <a:rPr lang="en-US" b="1" dirty="0"/>
              <a:t>Design Excellence / Contribution</a:t>
            </a:r>
          </a:p>
        </p:txBody>
      </p:sp>
      <p:sp>
        <p:nvSpPr>
          <p:cNvPr id="5" name="TextBox 4">
            <a:extLst>
              <a:ext uri="{FF2B5EF4-FFF2-40B4-BE49-F238E27FC236}">
                <a16:creationId xmlns:a16="http://schemas.microsoft.com/office/drawing/2014/main" id="{63A737A3-3665-5336-FD89-13A400D0BF7D}"/>
              </a:ext>
            </a:extLst>
          </p:cNvPr>
          <p:cNvSpPr txBox="1"/>
          <p:nvPr/>
        </p:nvSpPr>
        <p:spPr>
          <a:xfrm>
            <a:off x="837234" y="1476350"/>
            <a:ext cx="10744199" cy="1200329"/>
          </a:xfrm>
          <a:prstGeom prst="rect">
            <a:avLst/>
          </a:prstGeom>
          <a:noFill/>
        </p:spPr>
        <p:txBody>
          <a:bodyPr wrap="square" rtlCol="0">
            <a:spAutoFit/>
          </a:bodyPr>
          <a:lstStyle/>
          <a:p>
            <a:pPr marL="285750" indent="-285750">
              <a:buFont typeface="Arial" panose="020B0604020202020204" pitchFamily="34" charset="0"/>
              <a:buChar char="•"/>
            </a:pPr>
            <a:r>
              <a:rPr lang="en-US" dirty="0"/>
              <a:t>First domain-specific Singlish NLP classifier for the Sri Lankan household service sector</a:t>
            </a:r>
          </a:p>
          <a:p>
            <a:pPr marL="285750" indent="-285750">
              <a:buFont typeface="Arial" panose="020B0604020202020204" pitchFamily="34" charset="0"/>
              <a:buChar char="•"/>
            </a:pPr>
            <a:r>
              <a:rPr lang="en-US" dirty="0"/>
              <a:t>Trained on a custom, locally </a:t>
            </a:r>
            <a:r>
              <a:rPr lang="en-US" dirty="0" err="1"/>
              <a:t>synthesised</a:t>
            </a:r>
            <a:r>
              <a:rPr lang="en-US" dirty="0"/>
              <a:t> Singlish dataset - accurate, affordable, and privacy-compliant</a:t>
            </a:r>
          </a:p>
          <a:p>
            <a:pPr marL="285750" indent="-285750">
              <a:buFont typeface="Arial" panose="020B0604020202020204" pitchFamily="34" charset="0"/>
              <a:buChar char="•"/>
            </a:pPr>
            <a:r>
              <a:rPr lang="en-US" dirty="0"/>
              <a:t>Used pretrained model from </a:t>
            </a:r>
            <a:r>
              <a:rPr lang="en-US" dirty="0" err="1"/>
              <a:t>HuggingFace</a:t>
            </a:r>
            <a:endParaRPr lang="en-US" dirty="0"/>
          </a:p>
          <a:p>
            <a:pPr marL="285750" indent="-285750">
              <a:buFont typeface="Arial" panose="020B0604020202020204" pitchFamily="34" charset="0"/>
              <a:buChar char="•"/>
            </a:pPr>
            <a:endParaRPr lang="en-US" dirty="0"/>
          </a:p>
        </p:txBody>
      </p:sp>
      <p:sp>
        <p:nvSpPr>
          <p:cNvPr id="14" name="TextBox 13">
            <a:extLst>
              <a:ext uri="{FF2B5EF4-FFF2-40B4-BE49-F238E27FC236}">
                <a16:creationId xmlns:a16="http://schemas.microsoft.com/office/drawing/2014/main" id="{3E82F496-0F55-BEC9-110E-810571AB4136}"/>
              </a:ext>
            </a:extLst>
          </p:cNvPr>
          <p:cNvSpPr txBox="1"/>
          <p:nvPr/>
        </p:nvSpPr>
        <p:spPr>
          <a:xfrm>
            <a:off x="837234" y="3429000"/>
            <a:ext cx="4572965" cy="369332"/>
          </a:xfrm>
          <a:prstGeom prst="rect">
            <a:avLst/>
          </a:prstGeom>
          <a:noFill/>
        </p:spPr>
        <p:txBody>
          <a:bodyPr wrap="square" rtlCol="0">
            <a:spAutoFit/>
          </a:bodyPr>
          <a:lstStyle/>
          <a:p>
            <a:r>
              <a:rPr lang="en-US" b="1" dirty="0"/>
              <a:t>User Feedback on Prototype</a:t>
            </a:r>
            <a:endParaRPr lang="en-US" dirty="0"/>
          </a:p>
        </p:txBody>
      </p:sp>
      <p:sp>
        <p:nvSpPr>
          <p:cNvPr id="15" name="TextBox 14">
            <a:extLst>
              <a:ext uri="{FF2B5EF4-FFF2-40B4-BE49-F238E27FC236}">
                <a16:creationId xmlns:a16="http://schemas.microsoft.com/office/drawing/2014/main" id="{ACB4D334-7F2D-E6E6-82A1-95118810EE7B}"/>
              </a:ext>
            </a:extLst>
          </p:cNvPr>
          <p:cNvSpPr txBox="1"/>
          <p:nvPr/>
        </p:nvSpPr>
        <p:spPr>
          <a:xfrm>
            <a:off x="837234" y="3896423"/>
            <a:ext cx="10744199" cy="1200329"/>
          </a:xfrm>
          <a:prstGeom prst="rect">
            <a:avLst/>
          </a:prstGeom>
          <a:noFill/>
        </p:spPr>
        <p:txBody>
          <a:bodyPr wrap="square" rtlCol="0">
            <a:spAutoFit/>
          </a:bodyPr>
          <a:lstStyle/>
          <a:p>
            <a:pPr marL="285750" indent="-285750">
              <a:buFont typeface="Arial" panose="020B0604020202020204" pitchFamily="34" charset="0"/>
              <a:buChar char="•"/>
            </a:pPr>
            <a:r>
              <a:rPr lang="en-US" dirty="0"/>
              <a:t>Tested with 10 participants</a:t>
            </a:r>
          </a:p>
          <a:p>
            <a:pPr marL="285750" indent="-285750">
              <a:buFont typeface="Arial" panose="020B0604020202020204" pitchFamily="34" charset="0"/>
              <a:buChar char="•"/>
            </a:pPr>
            <a:r>
              <a:rPr lang="en-US" dirty="0"/>
              <a:t>5/10 successfully retrieved the correct worker category using natural Singlish queries</a:t>
            </a:r>
          </a:p>
          <a:p>
            <a:pPr marL="285750" indent="-285750">
              <a:buFont typeface="Arial" panose="020B0604020202020204" pitchFamily="34" charset="0"/>
              <a:buChar char="•"/>
            </a:pPr>
            <a:r>
              <a:rPr lang="en-US" dirty="0"/>
              <a:t>Feedback: struggles with some phrases that used in different categories – failing to predict correct category</a:t>
            </a:r>
          </a:p>
        </p:txBody>
      </p:sp>
      <p:sp>
        <p:nvSpPr>
          <p:cNvPr id="8" name="TextBox 7">
            <a:extLst>
              <a:ext uri="{FF2B5EF4-FFF2-40B4-BE49-F238E27FC236}">
                <a16:creationId xmlns:a16="http://schemas.microsoft.com/office/drawing/2014/main" id="{CC28BD9D-FF6E-0BFE-9A6E-98108F7A12FF}"/>
              </a:ext>
            </a:extLst>
          </p:cNvPr>
          <p:cNvSpPr txBox="1"/>
          <p:nvPr/>
        </p:nvSpPr>
        <p:spPr>
          <a:xfrm>
            <a:off x="3276600" y="2543743"/>
            <a:ext cx="4800600" cy="369332"/>
          </a:xfrm>
          <a:prstGeom prst="rect">
            <a:avLst/>
          </a:prstGeom>
          <a:noFill/>
        </p:spPr>
        <p:txBody>
          <a:bodyPr wrap="square" rtlCol="0">
            <a:spAutoFit/>
          </a:bodyPr>
          <a:lstStyle/>
          <a:p>
            <a:r>
              <a:rPr lang="en-US" b="1" dirty="0"/>
              <a:t>paraphrase-multilingual-MiniLM-L12-v2</a:t>
            </a:r>
          </a:p>
        </p:txBody>
      </p:sp>
    </p:spTree>
    <p:extLst>
      <p:ext uri="{BB962C8B-B14F-4D97-AF65-F5344CB8AC3E}">
        <p14:creationId xmlns:p14="http://schemas.microsoft.com/office/powerpoint/2010/main" val="33078681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111494C0-9A72-368A-F185-8C1FA40F0297}"/>
              </a:ext>
            </a:extLst>
          </p:cNvPr>
          <p:cNvSpPr txBox="1">
            <a:spLocks/>
          </p:cNvSpPr>
          <p:nvPr/>
        </p:nvSpPr>
        <p:spPr>
          <a:xfrm>
            <a:off x="-228600" y="2514600"/>
            <a:ext cx="10363200" cy="755426"/>
          </a:xfrm>
          <a:prstGeom prst="rect">
            <a:avLst/>
          </a:prstGeom>
        </p:spPr>
        <p:txBody>
          <a:bodyPr/>
          <a:lstStyle>
            <a:lvl1pPr algn="ctr" defTabSz="914400" rtl="0" eaLnBrk="1" latinLnBrk="0" hangingPunct="1">
              <a:spcBef>
                <a:spcPct val="0"/>
              </a:spcBef>
              <a:buNone/>
              <a:defRPr sz="4400" kern="1200">
                <a:solidFill>
                  <a:schemeClr val="tx1"/>
                </a:solidFill>
                <a:latin typeface="Adobe Devanagari" pitchFamily="18" charset="0"/>
                <a:ea typeface="+mj-ea"/>
                <a:cs typeface="Adobe Devanagari" pitchFamily="18" charset="0"/>
              </a:defRPr>
            </a:lvl1pPr>
          </a:lstStyle>
          <a:p>
            <a:r>
              <a:rPr lang="en-US" b="1" dirty="0"/>
              <a:t>IT22283658 | SHIWANTHIKA M.M</a:t>
            </a:r>
          </a:p>
        </p:txBody>
      </p:sp>
      <p:sp>
        <p:nvSpPr>
          <p:cNvPr id="3" name="Text Placeholder 5">
            <a:extLst>
              <a:ext uri="{FF2B5EF4-FFF2-40B4-BE49-F238E27FC236}">
                <a16:creationId xmlns:a16="http://schemas.microsoft.com/office/drawing/2014/main" id="{4F9B4D80-5A57-71EF-7DF4-BD4D6804A781}"/>
              </a:ext>
            </a:extLst>
          </p:cNvPr>
          <p:cNvSpPr txBox="1">
            <a:spLocks/>
          </p:cNvSpPr>
          <p:nvPr/>
        </p:nvSpPr>
        <p:spPr>
          <a:xfrm>
            <a:off x="963084" y="3764323"/>
            <a:ext cx="10363200" cy="609599"/>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Wingdings" pitchFamily="2" charset="2"/>
              <a:buChar char="Ø"/>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Wingdings" pitchFamily="2" charset="2"/>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800" b="1" dirty="0">
                <a:latin typeface="Calibri" pitchFamily="34" charset="0"/>
                <a:ea typeface="Calibri" pitchFamily="34" charset="-122"/>
                <a:cs typeface="Calibri" pitchFamily="34" charset="-120"/>
              </a:rPr>
              <a:t>Intelligent Worker Recommendation Engine</a:t>
            </a:r>
            <a:endParaRPr lang="en-US" sz="2800" dirty="0"/>
          </a:p>
        </p:txBody>
      </p:sp>
      <p:pic>
        <p:nvPicPr>
          <p:cNvPr id="4" name="Picture 3">
            <a:extLst>
              <a:ext uri="{FF2B5EF4-FFF2-40B4-BE49-F238E27FC236}">
                <a16:creationId xmlns:a16="http://schemas.microsoft.com/office/drawing/2014/main" id="{E8D7577B-26D8-99A0-4CBA-9F0887B01A5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34600" y="152400"/>
            <a:ext cx="1981200" cy="2286000"/>
          </a:xfrm>
          <a:prstGeom prst="rect">
            <a:avLst/>
          </a:prstGeom>
        </p:spPr>
      </p:pic>
      <p:sp>
        <p:nvSpPr>
          <p:cNvPr id="5" name="Rectangle 4">
            <a:extLst>
              <a:ext uri="{FF2B5EF4-FFF2-40B4-BE49-F238E27FC236}">
                <a16:creationId xmlns:a16="http://schemas.microsoft.com/office/drawing/2014/main" id="{E1F98621-AF49-0B6A-9F95-B7B52CFCED9D}"/>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dirty="0">
                <a:solidFill>
                  <a:schemeClr val="tx1"/>
                </a:solidFill>
              </a:rPr>
              <a:t>IT22283658</a:t>
            </a:r>
            <a:r>
              <a:rPr lang="en-US" sz="1800" dirty="0">
                <a:solidFill>
                  <a:schemeClr val="tx1"/>
                </a:solidFill>
              </a:rPr>
              <a:t>   |   </a:t>
            </a:r>
            <a:r>
              <a:rPr lang="en-US" b="1" dirty="0" err="1">
                <a:solidFill>
                  <a:schemeClr val="tx1"/>
                </a:solidFill>
              </a:rPr>
              <a:t>Shiwanthika</a:t>
            </a:r>
            <a:r>
              <a:rPr lang="en-US" b="1" dirty="0">
                <a:solidFill>
                  <a:schemeClr val="tx1"/>
                </a:solidFill>
              </a:rPr>
              <a:t> M </a:t>
            </a:r>
            <a:r>
              <a:rPr lang="en-US" b="1" dirty="0" err="1">
                <a:solidFill>
                  <a:schemeClr val="tx1"/>
                </a:solidFill>
              </a:rPr>
              <a:t>M</a:t>
            </a:r>
            <a:r>
              <a:rPr lang="en-US" sz="1800" b="1" dirty="0">
                <a:solidFill>
                  <a:schemeClr val="tx1"/>
                </a:solidFill>
              </a:rPr>
              <a:t>  </a:t>
            </a:r>
            <a:r>
              <a:rPr lang="en-US" sz="1800" dirty="0">
                <a:solidFill>
                  <a:schemeClr val="tx1"/>
                </a:solidFill>
              </a:rPr>
              <a:t>|   </a:t>
            </a:r>
            <a:r>
              <a:rPr lang="en-US" b="1" dirty="0">
                <a:solidFill>
                  <a:schemeClr val="tx1"/>
                </a:solidFill>
              </a:rPr>
              <a:t>R26-IT-090</a:t>
            </a:r>
            <a:endParaRPr lang="en-US" sz="1800" b="1" dirty="0">
              <a:solidFill>
                <a:schemeClr val="tx1"/>
              </a:solidFill>
            </a:endParaRPr>
          </a:p>
        </p:txBody>
      </p:sp>
    </p:spTree>
    <p:extLst>
      <p:ext uri="{BB962C8B-B14F-4D97-AF65-F5344CB8AC3E}">
        <p14:creationId xmlns:p14="http://schemas.microsoft.com/office/powerpoint/2010/main" val="5264590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6FDBAF5-082F-7479-C08C-AEE50E00C686}"/>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dirty="0">
                <a:solidFill>
                  <a:schemeClr val="tx1"/>
                </a:solidFill>
              </a:rPr>
              <a:t>IT22283658</a:t>
            </a:r>
            <a:r>
              <a:rPr lang="en-US" sz="1800" dirty="0">
                <a:solidFill>
                  <a:schemeClr val="tx1"/>
                </a:solidFill>
              </a:rPr>
              <a:t>   |   </a:t>
            </a:r>
            <a:r>
              <a:rPr lang="en-US" b="1" dirty="0" err="1">
                <a:solidFill>
                  <a:schemeClr val="tx1"/>
                </a:solidFill>
              </a:rPr>
              <a:t>Shiwanthika</a:t>
            </a:r>
            <a:r>
              <a:rPr lang="en-US" b="1" dirty="0">
                <a:solidFill>
                  <a:schemeClr val="tx1"/>
                </a:solidFill>
              </a:rPr>
              <a:t> M </a:t>
            </a:r>
            <a:r>
              <a:rPr lang="en-US" b="1" dirty="0" err="1">
                <a:solidFill>
                  <a:schemeClr val="tx1"/>
                </a:solidFill>
              </a:rPr>
              <a:t>M</a:t>
            </a:r>
            <a:r>
              <a:rPr lang="en-US" sz="1800" b="1" dirty="0">
                <a:solidFill>
                  <a:schemeClr val="tx1"/>
                </a:solidFill>
              </a:rPr>
              <a:t>  </a:t>
            </a:r>
            <a:r>
              <a:rPr lang="en-US" sz="1800" dirty="0">
                <a:solidFill>
                  <a:schemeClr val="tx1"/>
                </a:solidFill>
              </a:rPr>
              <a:t>|   </a:t>
            </a:r>
            <a:r>
              <a:rPr lang="en-US" b="1" dirty="0">
                <a:solidFill>
                  <a:schemeClr val="tx1"/>
                </a:solidFill>
              </a:rPr>
              <a:t>R26-IT-090</a:t>
            </a:r>
            <a:endParaRPr lang="en-US" sz="1800" b="1" dirty="0">
              <a:solidFill>
                <a:schemeClr val="tx1"/>
              </a:solidFill>
            </a:endParaRPr>
          </a:p>
        </p:txBody>
      </p:sp>
      <p:sp>
        <p:nvSpPr>
          <p:cNvPr id="3" name="TextBox 2">
            <a:extLst>
              <a:ext uri="{FF2B5EF4-FFF2-40B4-BE49-F238E27FC236}">
                <a16:creationId xmlns:a16="http://schemas.microsoft.com/office/drawing/2014/main" id="{0E3EC952-F13E-5595-6CB4-6D8C7B90E89B}"/>
              </a:ext>
            </a:extLst>
          </p:cNvPr>
          <p:cNvSpPr txBox="1"/>
          <p:nvPr/>
        </p:nvSpPr>
        <p:spPr>
          <a:xfrm>
            <a:off x="4037633" y="81648"/>
            <a:ext cx="4343400" cy="369332"/>
          </a:xfrm>
          <a:prstGeom prst="rect">
            <a:avLst/>
          </a:prstGeom>
          <a:noFill/>
        </p:spPr>
        <p:txBody>
          <a:bodyPr wrap="square">
            <a:spAutoFit/>
          </a:bodyPr>
          <a:lstStyle/>
          <a:p>
            <a:r>
              <a:rPr lang="en-US" b="1" dirty="0">
                <a:latin typeface="Calibri" pitchFamily="34" charset="0"/>
                <a:ea typeface="Calibri" pitchFamily="34" charset="-122"/>
                <a:cs typeface="Calibri" pitchFamily="34" charset="-120"/>
              </a:rPr>
              <a:t>Intelligent Worker Recommendation Engine</a:t>
            </a:r>
            <a:endParaRPr lang="en-US" dirty="0"/>
          </a:p>
        </p:txBody>
      </p:sp>
      <p:sp>
        <p:nvSpPr>
          <p:cNvPr id="4" name="TextBox 3">
            <a:extLst>
              <a:ext uri="{FF2B5EF4-FFF2-40B4-BE49-F238E27FC236}">
                <a16:creationId xmlns:a16="http://schemas.microsoft.com/office/drawing/2014/main" id="{3A94634D-1207-CBCB-043F-CA82E67B63EF}"/>
              </a:ext>
            </a:extLst>
          </p:cNvPr>
          <p:cNvSpPr txBox="1"/>
          <p:nvPr/>
        </p:nvSpPr>
        <p:spPr>
          <a:xfrm>
            <a:off x="837234" y="1008927"/>
            <a:ext cx="5258766" cy="369332"/>
          </a:xfrm>
          <a:prstGeom prst="rect">
            <a:avLst/>
          </a:prstGeom>
          <a:noFill/>
        </p:spPr>
        <p:txBody>
          <a:bodyPr wrap="square" rtlCol="0">
            <a:spAutoFit/>
          </a:bodyPr>
          <a:lstStyle/>
          <a:p>
            <a:r>
              <a:rPr lang="en-US" b="1" dirty="0"/>
              <a:t>How the Solution Addresses the Sub-Problem</a:t>
            </a:r>
          </a:p>
        </p:txBody>
      </p:sp>
      <p:sp>
        <p:nvSpPr>
          <p:cNvPr id="5" name="TextBox 4">
            <a:extLst>
              <a:ext uri="{FF2B5EF4-FFF2-40B4-BE49-F238E27FC236}">
                <a16:creationId xmlns:a16="http://schemas.microsoft.com/office/drawing/2014/main" id="{FFB6AD9B-BA53-97AD-B8B7-028D9994A97A}"/>
              </a:ext>
            </a:extLst>
          </p:cNvPr>
          <p:cNvSpPr txBox="1"/>
          <p:nvPr/>
        </p:nvSpPr>
        <p:spPr>
          <a:xfrm>
            <a:off x="837234" y="1476350"/>
            <a:ext cx="10744199" cy="1754326"/>
          </a:xfrm>
          <a:prstGeom prst="rect">
            <a:avLst/>
          </a:prstGeom>
          <a:noFill/>
        </p:spPr>
        <p:txBody>
          <a:bodyPr wrap="square" rtlCol="0">
            <a:spAutoFit/>
          </a:bodyPr>
          <a:lstStyle/>
          <a:p>
            <a:pPr marL="285750" indent="-285750">
              <a:buFont typeface="Arial" panose="020B0604020202020204" pitchFamily="34" charset="0"/>
              <a:buChar char="•"/>
            </a:pPr>
            <a:r>
              <a:rPr lang="en-US" dirty="0"/>
              <a:t>Users waste time calling multiple workers and often hire someone unavailable, far away, or unqualified for the specific task</a:t>
            </a:r>
          </a:p>
          <a:p>
            <a:pPr marL="285750" indent="-285750">
              <a:buFont typeface="Arial" panose="020B0604020202020204" pitchFamily="34" charset="0"/>
              <a:buChar char="•"/>
            </a:pPr>
            <a:r>
              <a:rPr lang="en-US" dirty="0"/>
              <a:t>4-step Hybrid Pipeline: Gatekeeper Filter → Normalize equation → Top 10 Ranking</a:t>
            </a:r>
          </a:p>
          <a:p>
            <a:pPr marL="285750" indent="-285750">
              <a:buFont typeface="Arial" panose="020B0604020202020204" pitchFamily="34" charset="0"/>
              <a:buChar char="•"/>
            </a:pPr>
            <a:r>
              <a:rPr lang="en-US" dirty="0"/>
              <a:t>Historical Score based on NVQ qualification level (3–7) and past average completion time — category-specific</a:t>
            </a:r>
          </a:p>
          <a:p>
            <a:pPr marL="285750" indent="-285750">
              <a:buFont typeface="Arial" panose="020B0604020202020204" pitchFamily="34" charset="0"/>
              <a:buChar char="•"/>
            </a:pPr>
            <a:r>
              <a:rPr lang="en-US" dirty="0"/>
              <a:t>Final score blended with live GPS distance and Component 3's Trust Score using a weighted formula</a:t>
            </a:r>
          </a:p>
        </p:txBody>
      </p:sp>
      <p:sp>
        <p:nvSpPr>
          <p:cNvPr id="8" name="TextBox 7">
            <a:extLst>
              <a:ext uri="{FF2B5EF4-FFF2-40B4-BE49-F238E27FC236}">
                <a16:creationId xmlns:a16="http://schemas.microsoft.com/office/drawing/2014/main" id="{487F5D9F-93C8-4799-A4F0-A859846BB1DA}"/>
              </a:ext>
            </a:extLst>
          </p:cNvPr>
          <p:cNvSpPr txBox="1"/>
          <p:nvPr/>
        </p:nvSpPr>
        <p:spPr>
          <a:xfrm>
            <a:off x="837234" y="3566234"/>
            <a:ext cx="5258766" cy="369332"/>
          </a:xfrm>
          <a:prstGeom prst="rect">
            <a:avLst/>
          </a:prstGeom>
          <a:noFill/>
        </p:spPr>
        <p:txBody>
          <a:bodyPr wrap="square" rtlCol="0">
            <a:spAutoFit/>
          </a:bodyPr>
          <a:lstStyle/>
          <a:p>
            <a:r>
              <a:rPr lang="en-US" b="1" dirty="0"/>
              <a:t>User Requirements Addressed</a:t>
            </a:r>
            <a:endParaRPr lang="en-US" dirty="0"/>
          </a:p>
        </p:txBody>
      </p:sp>
      <p:sp>
        <p:nvSpPr>
          <p:cNvPr id="9" name="TextBox 8">
            <a:extLst>
              <a:ext uri="{FF2B5EF4-FFF2-40B4-BE49-F238E27FC236}">
                <a16:creationId xmlns:a16="http://schemas.microsoft.com/office/drawing/2014/main" id="{3F48AB10-3B26-BC8C-CF75-1DCC313F05A0}"/>
              </a:ext>
            </a:extLst>
          </p:cNvPr>
          <p:cNvSpPr txBox="1"/>
          <p:nvPr/>
        </p:nvSpPr>
        <p:spPr>
          <a:xfrm>
            <a:off x="837234" y="4033657"/>
            <a:ext cx="10744199" cy="1477328"/>
          </a:xfrm>
          <a:prstGeom prst="rect">
            <a:avLst/>
          </a:prstGeom>
          <a:noFill/>
        </p:spPr>
        <p:txBody>
          <a:bodyPr wrap="square" rtlCol="0">
            <a:spAutoFit/>
          </a:bodyPr>
          <a:lstStyle/>
          <a:p>
            <a:pPr marL="285750" indent="-285750">
              <a:buFont typeface="Arial" panose="020B0604020202020204" pitchFamily="34" charset="0"/>
              <a:buChar char="•"/>
            </a:pPr>
            <a:r>
              <a:rPr lang="en-US" dirty="0"/>
              <a:t>Return ranked Top 10 suitable, available workers for the requested category</a:t>
            </a:r>
          </a:p>
          <a:p>
            <a:pPr marL="285750" indent="-285750">
              <a:buFont typeface="Arial" panose="020B0604020202020204" pitchFamily="34" charset="0"/>
              <a:buChar char="•"/>
            </a:pPr>
            <a:r>
              <a:rPr lang="en-US" dirty="0"/>
              <a:t>Score workers based on NVQ level and category-specific job history</a:t>
            </a:r>
          </a:p>
          <a:p>
            <a:pPr marL="285750" indent="-285750">
              <a:buFont typeface="Arial" panose="020B0604020202020204" pitchFamily="34" charset="0"/>
              <a:buChar char="•"/>
            </a:pPr>
            <a:r>
              <a:rPr lang="en-US" dirty="0" err="1"/>
              <a:t>Penalise</a:t>
            </a:r>
            <a:r>
              <a:rPr lang="en-US" dirty="0"/>
              <a:t> workers who are geographically far at the time of request</a:t>
            </a:r>
          </a:p>
          <a:p>
            <a:pPr marL="285750" indent="-285750">
              <a:buFont typeface="Arial" panose="020B0604020202020204" pitchFamily="34" charset="0"/>
              <a:buChar char="•"/>
            </a:pPr>
            <a:r>
              <a:rPr lang="en-US" dirty="0"/>
              <a:t>Scoring must be strictly category-specific (plumbing score ≠ electrical score)</a:t>
            </a:r>
          </a:p>
          <a:p>
            <a:pPr marL="285750" indent="-285750">
              <a:buFont typeface="Arial" panose="020B0604020202020204" pitchFamily="34" charset="0"/>
              <a:buChar char="•"/>
            </a:pPr>
            <a:r>
              <a:rPr lang="en-US" dirty="0"/>
              <a:t>Ranked list returned within 2 seconds</a:t>
            </a:r>
          </a:p>
        </p:txBody>
      </p:sp>
      <p:pic>
        <p:nvPicPr>
          <p:cNvPr id="7" name="Picture 6">
            <a:extLst>
              <a:ext uri="{FF2B5EF4-FFF2-40B4-BE49-F238E27FC236}">
                <a16:creationId xmlns:a16="http://schemas.microsoft.com/office/drawing/2014/main" id="{9FBDC77C-6D01-72C1-CB27-EC0E7A83C8DE}"/>
              </a:ext>
            </a:extLst>
          </p:cNvPr>
          <p:cNvPicPr>
            <a:picLocks noChangeAspect="1"/>
          </p:cNvPicPr>
          <p:nvPr/>
        </p:nvPicPr>
        <p:blipFill>
          <a:blip r:embed="rId2"/>
          <a:stretch>
            <a:fillRect/>
          </a:stretch>
        </p:blipFill>
        <p:spPr>
          <a:xfrm>
            <a:off x="941132" y="5557076"/>
            <a:ext cx="5336992" cy="798268"/>
          </a:xfrm>
          <a:prstGeom prst="rect">
            <a:avLst/>
          </a:prstGeom>
        </p:spPr>
      </p:pic>
      <p:sp>
        <p:nvSpPr>
          <p:cNvPr id="10" name="Flowchart: Connector 9">
            <a:extLst>
              <a:ext uri="{FF2B5EF4-FFF2-40B4-BE49-F238E27FC236}">
                <a16:creationId xmlns:a16="http://schemas.microsoft.com/office/drawing/2014/main" id="{B7FE5BD4-EC6A-97B7-F93B-1E97298611E2}"/>
              </a:ext>
            </a:extLst>
          </p:cNvPr>
          <p:cNvSpPr/>
          <p:nvPr/>
        </p:nvSpPr>
        <p:spPr>
          <a:xfrm>
            <a:off x="909736" y="5956210"/>
            <a:ext cx="75233" cy="45719"/>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028051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C700CE50-FEBA-87DE-0F60-8D0EB5725047}"/>
              </a:ext>
            </a:extLst>
          </p:cNvPr>
          <p:cNvSpPr txBox="1">
            <a:spLocks/>
          </p:cNvSpPr>
          <p:nvPr/>
        </p:nvSpPr>
        <p:spPr>
          <a:xfrm>
            <a:off x="-152400" y="2105008"/>
            <a:ext cx="10363200" cy="755426"/>
          </a:xfrm>
          <a:prstGeom prst="rect">
            <a:avLst/>
          </a:prstGeom>
        </p:spPr>
        <p:txBody>
          <a:bodyPr/>
          <a:lstStyle>
            <a:lvl1pPr algn="ctr" defTabSz="914400" rtl="0" eaLnBrk="1" latinLnBrk="0" hangingPunct="1">
              <a:spcBef>
                <a:spcPct val="0"/>
              </a:spcBef>
              <a:buNone/>
              <a:defRPr sz="4400" kern="1200">
                <a:solidFill>
                  <a:schemeClr val="tx1"/>
                </a:solidFill>
                <a:latin typeface="Adobe Devanagari" pitchFamily="18" charset="0"/>
                <a:ea typeface="+mj-ea"/>
                <a:cs typeface="Adobe Devanagari" pitchFamily="18" charset="0"/>
              </a:defRPr>
            </a:lvl1pPr>
          </a:lstStyle>
          <a:p>
            <a:r>
              <a:rPr lang="en-US" b="1" dirty="0"/>
              <a:t>IT22643704 | </a:t>
            </a:r>
            <a:r>
              <a:rPr lang="en-US" b="1" dirty="0" err="1"/>
              <a:t>Wijebandara</a:t>
            </a:r>
            <a:r>
              <a:rPr lang="en-US" b="1" dirty="0"/>
              <a:t> W.N.S.K</a:t>
            </a:r>
          </a:p>
        </p:txBody>
      </p:sp>
      <p:sp>
        <p:nvSpPr>
          <p:cNvPr id="3" name="Text Placeholder 5">
            <a:extLst>
              <a:ext uri="{FF2B5EF4-FFF2-40B4-BE49-F238E27FC236}">
                <a16:creationId xmlns:a16="http://schemas.microsoft.com/office/drawing/2014/main" id="{956C7116-29FF-FC68-A0DB-AFE1AA407727}"/>
              </a:ext>
            </a:extLst>
          </p:cNvPr>
          <p:cNvSpPr txBox="1">
            <a:spLocks/>
          </p:cNvSpPr>
          <p:nvPr/>
        </p:nvSpPr>
        <p:spPr>
          <a:xfrm>
            <a:off x="914400" y="3200400"/>
            <a:ext cx="10363200" cy="609599"/>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Wingdings" pitchFamily="2" charset="2"/>
              <a:buChar char="Ø"/>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Wingdings" pitchFamily="2" charset="2"/>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800" b="1" dirty="0"/>
              <a:t>Intelligent Service Discovery and Intent Recognition System</a:t>
            </a:r>
          </a:p>
        </p:txBody>
      </p:sp>
      <p:pic>
        <p:nvPicPr>
          <p:cNvPr id="4" name="Picture 3">
            <a:extLst>
              <a:ext uri="{FF2B5EF4-FFF2-40B4-BE49-F238E27FC236}">
                <a16:creationId xmlns:a16="http://schemas.microsoft.com/office/drawing/2014/main" id="{F8BBE21F-B014-B9DB-9E03-FE6CE891DC38}"/>
              </a:ext>
            </a:extLst>
          </p:cNvPr>
          <p:cNvPicPr>
            <a:picLocks noChangeAspect="1"/>
          </p:cNvPicPr>
          <p:nvPr/>
        </p:nvPicPr>
        <p:blipFill>
          <a:blip r:embed="rId2" cstate="print">
            <a:extLst>
              <a:ext uri="{28A0092B-C50C-407E-A947-70E740481C1C}">
                <a14:useLocalDpi xmlns:a14="http://schemas.microsoft.com/office/drawing/2010/main" val="0"/>
              </a:ext>
            </a:extLst>
          </a:blip>
          <a:srcRect l="4936" t="-638" r="9504" b="638"/>
          <a:stretch>
            <a:fillRect/>
          </a:stretch>
        </p:blipFill>
        <p:spPr>
          <a:xfrm>
            <a:off x="10127550" y="137626"/>
            <a:ext cx="1981200" cy="2315547"/>
          </a:xfrm>
          <a:prstGeom prst="rect">
            <a:avLst/>
          </a:prstGeom>
        </p:spPr>
      </p:pic>
      <p:pic>
        <p:nvPicPr>
          <p:cNvPr id="6" name="Picture 5">
            <a:extLst>
              <a:ext uri="{FF2B5EF4-FFF2-40B4-BE49-F238E27FC236}">
                <a16:creationId xmlns:a16="http://schemas.microsoft.com/office/drawing/2014/main" id="{32519F90-1F8D-7007-3E3B-11D445FD0258}"/>
              </a:ext>
            </a:extLst>
          </p:cNvPr>
          <p:cNvPicPr>
            <a:picLocks noChangeAspect="1"/>
          </p:cNvPicPr>
          <p:nvPr/>
        </p:nvPicPr>
        <p:blipFill>
          <a:blip r:embed="rId3" cstate="print">
            <a:extLst>
              <a:ext uri="{28A0092B-C50C-407E-A947-70E740481C1C}">
                <a14:useLocalDpi xmlns:a14="http://schemas.microsoft.com/office/drawing/2010/main" val="0"/>
              </a:ext>
            </a:extLst>
          </a:blip>
          <a:srcRect l="4759" r="-4758"/>
          <a:stretch>
            <a:fillRect/>
          </a:stretch>
        </p:blipFill>
        <p:spPr>
          <a:xfrm>
            <a:off x="10127550" y="152400"/>
            <a:ext cx="2151598" cy="2315547"/>
          </a:xfrm>
          <a:prstGeom prst="rect">
            <a:avLst/>
          </a:prstGeom>
        </p:spPr>
      </p:pic>
    </p:spTree>
    <p:extLst>
      <p:ext uri="{BB962C8B-B14F-4D97-AF65-F5344CB8AC3E}">
        <p14:creationId xmlns:p14="http://schemas.microsoft.com/office/powerpoint/2010/main" val="36711670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C5DD8C7-2DCC-8041-BE0A-7A0D6E0BC10A}"/>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dirty="0">
                <a:solidFill>
                  <a:schemeClr val="tx1"/>
                </a:solidFill>
              </a:rPr>
              <a:t>IT22643704</a:t>
            </a:r>
            <a:r>
              <a:rPr lang="en-US" sz="1800" dirty="0">
                <a:solidFill>
                  <a:schemeClr val="tx1"/>
                </a:solidFill>
              </a:rPr>
              <a:t>  |  </a:t>
            </a:r>
            <a:r>
              <a:rPr lang="en-US" b="1" dirty="0" err="1">
                <a:solidFill>
                  <a:schemeClr val="tx1"/>
                </a:solidFill>
              </a:rPr>
              <a:t>Wijebandara</a:t>
            </a:r>
            <a:r>
              <a:rPr lang="en-US" b="1" dirty="0">
                <a:solidFill>
                  <a:schemeClr val="tx1"/>
                </a:solidFill>
              </a:rPr>
              <a:t> W.N.S.K</a:t>
            </a:r>
            <a:r>
              <a:rPr lang="en-US" dirty="0">
                <a:solidFill>
                  <a:schemeClr val="tx1"/>
                </a:solidFill>
              </a:rPr>
              <a:t> </a:t>
            </a:r>
            <a:r>
              <a:rPr lang="en-US" sz="1800" b="1" dirty="0">
                <a:solidFill>
                  <a:schemeClr val="tx1"/>
                </a:solidFill>
              </a:rPr>
              <a:t> </a:t>
            </a:r>
            <a:r>
              <a:rPr lang="en-US" sz="1800" dirty="0">
                <a:solidFill>
                  <a:schemeClr val="tx1"/>
                </a:solidFill>
              </a:rPr>
              <a:t>|   </a:t>
            </a:r>
            <a:r>
              <a:rPr lang="en-US" b="1" dirty="0">
                <a:solidFill>
                  <a:schemeClr val="tx1"/>
                </a:solidFill>
              </a:rPr>
              <a:t>R26-IT-090</a:t>
            </a:r>
            <a:endParaRPr lang="en-US" sz="1800" b="1" dirty="0">
              <a:solidFill>
                <a:schemeClr val="tx1"/>
              </a:solidFill>
            </a:endParaRPr>
          </a:p>
        </p:txBody>
      </p:sp>
      <p:sp>
        <p:nvSpPr>
          <p:cNvPr id="3" name="TextBox 2">
            <a:extLst>
              <a:ext uri="{FF2B5EF4-FFF2-40B4-BE49-F238E27FC236}">
                <a16:creationId xmlns:a16="http://schemas.microsoft.com/office/drawing/2014/main" id="{CA9495F0-526E-F624-7561-3F5F4D0E7070}"/>
              </a:ext>
            </a:extLst>
          </p:cNvPr>
          <p:cNvSpPr txBox="1"/>
          <p:nvPr/>
        </p:nvSpPr>
        <p:spPr>
          <a:xfrm>
            <a:off x="2971800" y="11668"/>
            <a:ext cx="7007506" cy="369332"/>
          </a:xfrm>
          <a:prstGeom prst="rect">
            <a:avLst/>
          </a:prstGeom>
          <a:noFill/>
        </p:spPr>
        <p:txBody>
          <a:bodyPr wrap="square">
            <a:spAutoFit/>
          </a:bodyPr>
          <a:lstStyle/>
          <a:p>
            <a:r>
              <a:rPr lang="en-US" sz="1800" b="1" dirty="0">
                <a:solidFill>
                  <a:schemeClr val="tx1"/>
                </a:solidFill>
              </a:rPr>
              <a:t>Intelligent Service Discovery and Intent Recognition System</a:t>
            </a:r>
          </a:p>
        </p:txBody>
      </p:sp>
      <p:sp>
        <p:nvSpPr>
          <p:cNvPr id="4" name="TextBox 3">
            <a:extLst>
              <a:ext uri="{FF2B5EF4-FFF2-40B4-BE49-F238E27FC236}">
                <a16:creationId xmlns:a16="http://schemas.microsoft.com/office/drawing/2014/main" id="{C3A6BC39-1BE5-A568-190D-A47BA1605C59}"/>
              </a:ext>
            </a:extLst>
          </p:cNvPr>
          <p:cNvSpPr txBox="1"/>
          <p:nvPr/>
        </p:nvSpPr>
        <p:spPr>
          <a:xfrm>
            <a:off x="837234" y="1008927"/>
            <a:ext cx="5106365" cy="369332"/>
          </a:xfrm>
          <a:prstGeom prst="rect">
            <a:avLst/>
          </a:prstGeom>
          <a:noFill/>
        </p:spPr>
        <p:txBody>
          <a:bodyPr wrap="square" rtlCol="0">
            <a:spAutoFit/>
          </a:bodyPr>
          <a:lstStyle/>
          <a:p>
            <a:r>
              <a:rPr lang="en-US" b="1" dirty="0"/>
              <a:t>Problem &amp; Proposed Solution</a:t>
            </a:r>
          </a:p>
        </p:txBody>
      </p:sp>
      <p:sp>
        <p:nvSpPr>
          <p:cNvPr id="5" name="TextBox 4">
            <a:extLst>
              <a:ext uri="{FF2B5EF4-FFF2-40B4-BE49-F238E27FC236}">
                <a16:creationId xmlns:a16="http://schemas.microsoft.com/office/drawing/2014/main" id="{946D0EFC-B31C-247A-D199-EE79688B7AEA}"/>
              </a:ext>
            </a:extLst>
          </p:cNvPr>
          <p:cNvSpPr txBox="1"/>
          <p:nvPr/>
        </p:nvSpPr>
        <p:spPr>
          <a:xfrm>
            <a:off x="837234" y="1476350"/>
            <a:ext cx="10744199" cy="1200329"/>
          </a:xfrm>
          <a:prstGeom prst="rect">
            <a:avLst/>
          </a:prstGeom>
          <a:noFill/>
        </p:spPr>
        <p:txBody>
          <a:bodyPr wrap="square" rtlCol="0">
            <a:spAutoFit/>
          </a:bodyPr>
          <a:lstStyle/>
          <a:p>
            <a:pPr marL="285750" indent="-285750">
              <a:buFont typeface="Arial" panose="020B0604020202020204" pitchFamily="34" charset="0"/>
              <a:buChar char="•"/>
            </a:pPr>
            <a:r>
              <a:rPr lang="en-US" dirty="0"/>
              <a:t>Automated Review Credibility &amp; Sentiment Analysis Module Problem Existing platforms mainly rely on star ratings Star ratings alone cannot fully represent customer experience Some systems allow unverified reviews Fake or misleading reviews reduce trust Existing sentiment models struggle with Singlish reviews Proposed Solution</a:t>
            </a:r>
          </a:p>
        </p:txBody>
      </p:sp>
      <p:sp>
        <p:nvSpPr>
          <p:cNvPr id="6" name="TextBox 5">
            <a:extLst>
              <a:ext uri="{FF2B5EF4-FFF2-40B4-BE49-F238E27FC236}">
                <a16:creationId xmlns:a16="http://schemas.microsoft.com/office/drawing/2014/main" id="{0A508E29-C02F-D3C6-440F-B8083802A796}"/>
              </a:ext>
            </a:extLst>
          </p:cNvPr>
          <p:cNvSpPr txBox="1"/>
          <p:nvPr/>
        </p:nvSpPr>
        <p:spPr>
          <a:xfrm>
            <a:off x="829213" y="3266415"/>
            <a:ext cx="4495800" cy="369332"/>
          </a:xfrm>
          <a:prstGeom prst="rect">
            <a:avLst/>
          </a:prstGeom>
          <a:noFill/>
        </p:spPr>
        <p:txBody>
          <a:bodyPr wrap="square" rtlCol="0">
            <a:spAutoFit/>
          </a:bodyPr>
          <a:lstStyle/>
          <a:p>
            <a:r>
              <a:rPr lang="en-US" b="1" dirty="0"/>
              <a:t>Develop an AI-based module that:</a:t>
            </a:r>
            <a:endParaRPr lang="en-US" dirty="0"/>
          </a:p>
        </p:txBody>
      </p:sp>
      <p:sp>
        <p:nvSpPr>
          <p:cNvPr id="7" name="TextBox 6">
            <a:extLst>
              <a:ext uri="{FF2B5EF4-FFF2-40B4-BE49-F238E27FC236}">
                <a16:creationId xmlns:a16="http://schemas.microsoft.com/office/drawing/2014/main" id="{9B7AF3B5-C79F-A7CE-0E87-8640F5B9A5E0}"/>
              </a:ext>
            </a:extLst>
          </p:cNvPr>
          <p:cNvSpPr txBox="1"/>
          <p:nvPr/>
        </p:nvSpPr>
        <p:spPr>
          <a:xfrm>
            <a:off x="838199" y="4064902"/>
            <a:ext cx="10515601" cy="1200329"/>
          </a:xfrm>
          <a:prstGeom prst="rect">
            <a:avLst/>
          </a:prstGeom>
          <a:noFill/>
        </p:spPr>
        <p:txBody>
          <a:bodyPr wrap="square" rtlCol="0">
            <a:spAutoFit/>
          </a:bodyPr>
          <a:lstStyle/>
          <a:p>
            <a:pPr marL="285750" indent="-285750">
              <a:buFont typeface="Arial" panose="020B0604020202020204" pitchFamily="34" charset="0"/>
              <a:buChar char="•"/>
            </a:pPr>
            <a:r>
              <a:rPr lang="en-US" dirty="0"/>
              <a:t>Analyzes verified customer reviews</a:t>
            </a:r>
          </a:p>
          <a:p>
            <a:pPr marL="285750" indent="-285750">
              <a:buFont typeface="Arial" panose="020B0604020202020204" pitchFamily="34" charset="0"/>
              <a:buChar char="•"/>
            </a:pPr>
            <a:r>
              <a:rPr lang="en-US" dirty="0"/>
              <a:t>Uses sentiment analysis + star ratings</a:t>
            </a:r>
          </a:p>
          <a:p>
            <a:pPr marL="285750" indent="-285750">
              <a:buFont typeface="Arial" panose="020B0604020202020204" pitchFamily="34" charset="0"/>
              <a:buChar char="•"/>
            </a:pPr>
            <a:r>
              <a:rPr lang="en-US" dirty="0"/>
              <a:t>Generates worker credibility scores</a:t>
            </a:r>
          </a:p>
          <a:p>
            <a:pPr marL="285750" indent="-285750">
              <a:buFont typeface="Arial" panose="020B0604020202020204" pitchFamily="34" charset="0"/>
              <a:buChar char="•"/>
            </a:pPr>
            <a:r>
              <a:rPr lang="en-US" dirty="0"/>
              <a:t>Supports Singlish customer reviews</a:t>
            </a:r>
          </a:p>
        </p:txBody>
      </p:sp>
    </p:spTree>
    <p:extLst>
      <p:ext uri="{BB962C8B-B14F-4D97-AF65-F5344CB8AC3E}">
        <p14:creationId xmlns:p14="http://schemas.microsoft.com/office/powerpoint/2010/main" val="39984414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5F4CF64-5819-C38F-832B-2BF2847DB050}"/>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dirty="0">
                <a:solidFill>
                  <a:schemeClr val="tx1"/>
                </a:solidFill>
              </a:rPr>
              <a:t>IT22643704</a:t>
            </a:r>
            <a:r>
              <a:rPr lang="en-US" sz="1800" dirty="0">
                <a:solidFill>
                  <a:schemeClr val="tx1"/>
                </a:solidFill>
              </a:rPr>
              <a:t>  |  </a:t>
            </a:r>
            <a:r>
              <a:rPr lang="en-US" b="1" dirty="0" err="1">
                <a:solidFill>
                  <a:schemeClr val="tx1"/>
                </a:solidFill>
              </a:rPr>
              <a:t>Wijebandara</a:t>
            </a:r>
            <a:r>
              <a:rPr lang="en-US" b="1" dirty="0">
                <a:solidFill>
                  <a:schemeClr val="tx1"/>
                </a:solidFill>
              </a:rPr>
              <a:t> W.N.S.K</a:t>
            </a:r>
            <a:r>
              <a:rPr lang="en-US" dirty="0">
                <a:solidFill>
                  <a:schemeClr val="tx1"/>
                </a:solidFill>
              </a:rPr>
              <a:t> </a:t>
            </a:r>
            <a:r>
              <a:rPr lang="en-US" sz="1800" b="1" dirty="0">
                <a:solidFill>
                  <a:schemeClr val="tx1"/>
                </a:solidFill>
              </a:rPr>
              <a:t> </a:t>
            </a:r>
            <a:r>
              <a:rPr lang="en-US" sz="1800" dirty="0">
                <a:solidFill>
                  <a:schemeClr val="tx1"/>
                </a:solidFill>
              </a:rPr>
              <a:t>|   </a:t>
            </a:r>
            <a:r>
              <a:rPr lang="en-US" b="1" dirty="0">
                <a:solidFill>
                  <a:schemeClr val="tx1"/>
                </a:solidFill>
              </a:rPr>
              <a:t>R26-IT-090</a:t>
            </a:r>
            <a:endParaRPr lang="en-US" sz="1800" b="1" dirty="0">
              <a:solidFill>
                <a:schemeClr val="tx1"/>
              </a:solidFill>
            </a:endParaRPr>
          </a:p>
        </p:txBody>
      </p:sp>
      <p:sp>
        <p:nvSpPr>
          <p:cNvPr id="3" name="TextBox 2">
            <a:extLst>
              <a:ext uri="{FF2B5EF4-FFF2-40B4-BE49-F238E27FC236}">
                <a16:creationId xmlns:a16="http://schemas.microsoft.com/office/drawing/2014/main" id="{BF6C9A32-6656-B38F-C2C9-A9E9EF843DE9}"/>
              </a:ext>
            </a:extLst>
          </p:cNvPr>
          <p:cNvSpPr txBox="1"/>
          <p:nvPr/>
        </p:nvSpPr>
        <p:spPr>
          <a:xfrm>
            <a:off x="2971799" y="11668"/>
            <a:ext cx="7058285" cy="369332"/>
          </a:xfrm>
          <a:prstGeom prst="rect">
            <a:avLst/>
          </a:prstGeom>
          <a:noFill/>
        </p:spPr>
        <p:txBody>
          <a:bodyPr wrap="square">
            <a:spAutoFit/>
          </a:bodyPr>
          <a:lstStyle/>
          <a:p>
            <a:r>
              <a:rPr lang="en-US" sz="1800" b="1" dirty="0">
                <a:solidFill>
                  <a:schemeClr val="tx1"/>
                </a:solidFill>
              </a:rPr>
              <a:t>Intelligent Service Discovery and Intent Recognition System</a:t>
            </a:r>
          </a:p>
        </p:txBody>
      </p:sp>
      <p:sp>
        <p:nvSpPr>
          <p:cNvPr id="4" name="TextBox 3">
            <a:extLst>
              <a:ext uri="{FF2B5EF4-FFF2-40B4-BE49-F238E27FC236}">
                <a16:creationId xmlns:a16="http://schemas.microsoft.com/office/drawing/2014/main" id="{D9110B9E-E783-482E-88D3-1A72DC489832}"/>
              </a:ext>
            </a:extLst>
          </p:cNvPr>
          <p:cNvSpPr txBox="1"/>
          <p:nvPr/>
        </p:nvSpPr>
        <p:spPr>
          <a:xfrm>
            <a:off x="838790" y="505441"/>
            <a:ext cx="4039565" cy="369332"/>
          </a:xfrm>
          <a:prstGeom prst="rect">
            <a:avLst/>
          </a:prstGeom>
          <a:noFill/>
        </p:spPr>
        <p:txBody>
          <a:bodyPr wrap="square" rtlCol="0">
            <a:spAutoFit/>
          </a:bodyPr>
          <a:lstStyle/>
          <a:p>
            <a:r>
              <a:rPr lang="en-US" b="1" dirty="0"/>
              <a:t>System Workflow &amp; Calculation</a:t>
            </a:r>
            <a:endParaRPr lang="en-US" dirty="0"/>
          </a:p>
        </p:txBody>
      </p:sp>
      <p:sp>
        <p:nvSpPr>
          <p:cNvPr id="5" name="TextBox 4">
            <a:extLst>
              <a:ext uri="{FF2B5EF4-FFF2-40B4-BE49-F238E27FC236}">
                <a16:creationId xmlns:a16="http://schemas.microsoft.com/office/drawing/2014/main" id="{B50CBD6B-8E6C-111B-88E5-59199426D2AD}"/>
              </a:ext>
            </a:extLst>
          </p:cNvPr>
          <p:cNvSpPr txBox="1"/>
          <p:nvPr/>
        </p:nvSpPr>
        <p:spPr>
          <a:xfrm>
            <a:off x="859006" y="892908"/>
            <a:ext cx="10822056" cy="2554545"/>
          </a:xfrm>
          <a:prstGeom prst="rect">
            <a:avLst/>
          </a:prstGeom>
          <a:noFill/>
        </p:spPr>
        <p:txBody>
          <a:bodyPr wrap="square" rtlCol="0">
            <a:spAutoFit/>
          </a:bodyPr>
          <a:lstStyle/>
          <a:p>
            <a:pPr marL="285750" indent="-285750">
              <a:buFont typeface="Arial" panose="020B0604020202020204" pitchFamily="34" charset="0"/>
              <a:buChar char="•"/>
            </a:pPr>
            <a:r>
              <a:rPr lang="en-US" sz="1600" dirty="0"/>
              <a:t>How the System Works</a:t>
            </a:r>
          </a:p>
          <a:p>
            <a:r>
              <a:rPr lang="en-US" sz="1600" dirty="0"/>
              <a:t>        Customer completes service transaction</a:t>
            </a:r>
          </a:p>
          <a:p>
            <a:r>
              <a:rPr lang="en-US" sz="1600" dirty="0"/>
              <a:t>        Customer submits :Text review Star rating (1–5)</a:t>
            </a:r>
          </a:p>
          <a:p>
            <a:r>
              <a:rPr lang="en-US" sz="1600" dirty="0"/>
              <a:t>        NLP </a:t>
            </a:r>
            <a:r>
              <a:rPr lang="en-US" sz="1600" dirty="0" err="1"/>
              <a:t>preprocessing:Lowercasing</a:t>
            </a:r>
            <a:r>
              <a:rPr lang="en-US" sz="1600" dirty="0"/>
              <a:t> </a:t>
            </a:r>
            <a:r>
              <a:rPr lang="en-US" sz="1600" dirty="0" err="1"/>
              <a:t>TokenizationStop</a:t>
            </a:r>
            <a:r>
              <a:rPr lang="en-US" sz="1600" dirty="0"/>
              <a:t>-word removal Sentiment model classifies </a:t>
            </a:r>
          </a:p>
          <a:p>
            <a:pPr marL="285750" indent="-285750">
              <a:buFont typeface="Arial" panose="020B0604020202020204" pitchFamily="34" charset="0"/>
              <a:buChar char="•"/>
            </a:pPr>
            <a:r>
              <a:rPr lang="en-US" sz="1600" dirty="0"/>
              <a:t>review:</a:t>
            </a:r>
          </a:p>
          <a:p>
            <a:r>
              <a:rPr lang="en-US" sz="1600" dirty="0"/>
              <a:t>Positive / Negative System calculates: Sentiment Score Normalized Star Rating Final credibility score is generated Credibility Formula Sentiment Score Positive Reviews/Total Reviews Normalized </a:t>
            </a:r>
            <a:r>
              <a:rPr lang="en-US" sz="1600" dirty="0" err="1"/>
              <a:t>RatingAverage</a:t>
            </a:r>
            <a:r>
              <a:rPr lang="en-US" sz="1600" dirty="0"/>
              <a:t> </a:t>
            </a:r>
          </a:p>
          <a:p>
            <a:pPr marL="285750" indent="-285750">
              <a:buFont typeface="Arial" panose="020B0604020202020204" pitchFamily="34" charset="0"/>
              <a:buChar char="•"/>
            </a:pPr>
            <a:r>
              <a:rPr lang="en-US" sz="1600" dirty="0"/>
              <a:t>Rating/5Final </a:t>
            </a:r>
            <a:r>
              <a:rPr lang="en-US" sz="1600" dirty="0" err="1"/>
              <a:t>ScoreCredibility</a:t>
            </a:r>
            <a:r>
              <a:rPr lang="en-US" sz="1600" dirty="0"/>
              <a:t> </a:t>
            </a:r>
          </a:p>
          <a:p>
            <a:pPr marL="285750" indent="-285750">
              <a:buFont typeface="Arial" panose="020B0604020202020204" pitchFamily="34" charset="0"/>
              <a:buChar char="•"/>
            </a:pPr>
            <a:r>
              <a:rPr lang="en-US" sz="1600" dirty="0"/>
              <a:t>Score=w1×Sentiment Score+w2×Normalized Rating</a:t>
            </a:r>
          </a:p>
          <a:p>
            <a:pPr marL="285750" indent="-285750">
              <a:buFont typeface="Arial" panose="020B0604020202020204" pitchFamily="34" charset="0"/>
              <a:buChar char="•"/>
            </a:pPr>
            <a:r>
              <a:rPr lang="en-US" sz="1600" dirty="0"/>
              <a:t>Example:(0.6×0.75)+(0.4×0.86)=0.79</a:t>
            </a:r>
          </a:p>
        </p:txBody>
      </p:sp>
      <p:sp>
        <p:nvSpPr>
          <p:cNvPr id="8" name="TextBox 7">
            <a:extLst>
              <a:ext uri="{FF2B5EF4-FFF2-40B4-BE49-F238E27FC236}">
                <a16:creationId xmlns:a16="http://schemas.microsoft.com/office/drawing/2014/main" id="{2C475015-40B1-A5FE-BCFB-7BEBDE9E5A9A}"/>
              </a:ext>
            </a:extLst>
          </p:cNvPr>
          <p:cNvSpPr txBox="1"/>
          <p:nvPr/>
        </p:nvSpPr>
        <p:spPr>
          <a:xfrm>
            <a:off x="762000" y="3421313"/>
            <a:ext cx="4883986" cy="369332"/>
          </a:xfrm>
          <a:prstGeom prst="rect">
            <a:avLst/>
          </a:prstGeom>
          <a:noFill/>
        </p:spPr>
        <p:txBody>
          <a:bodyPr wrap="square" rtlCol="0">
            <a:spAutoFit/>
          </a:bodyPr>
          <a:lstStyle/>
          <a:p>
            <a:r>
              <a:rPr lang="en-US" b="1" dirty="0"/>
              <a:t>Novelty, Technologies &amp; Expected Outcome</a:t>
            </a:r>
            <a:endParaRPr lang="en-US" dirty="0"/>
          </a:p>
        </p:txBody>
      </p:sp>
      <p:sp>
        <p:nvSpPr>
          <p:cNvPr id="9" name="TextBox 8">
            <a:extLst>
              <a:ext uri="{FF2B5EF4-FFF2-40B4-BE49-F238E27FC236}">
                <a16:creationId xmlns:a16="http://schemas.microsoft.com/office/drawing/2014/main" id="{F723499E-F044-814F-698D-FEF3B6EF5E1F}"/>
              </a:ext>
            </a:extLst>
          </p:cNvPr>
          <p:cNvSpPr txBox="1"/>
          <p:nvPr/>
        </p:nvSpPr>
        <p:spPr>
          <a:xfrm>
            <a:off x="786882" y="3741376"/>
            <a:ext cx="11056186" cy="2800767"/>
          </a:xfrm>
          <a:prstGeom prst="rect">
            <a:avLst/>
          </a:prstGeom>
          <a:noFill/>
        </p:spPr>
        <p:txBody>
          <a:bodyPr wrap="square" rtlCol="0">
            <a:spAutoFit/>
          </a:bodyPr>
          <a:lstStyle/>
          <a:p>
            <a:r>
              <a:rPr lang="en-US" sz="1600" dirty="0"/>
              <a:t>Verified review mechanism</a:t>
            </a:r>
          </a:p>
          <a:p>
            <a:r>
              <a:rPr lang="en-US" sz="1600" dirty="0"/>
              <a:t>Sentiment-based credibility evaluation</a:t>
            </a:r>
          </a:p>
          <a:p>
            <a:r>
              <a:rPr lang="en-US" sz="1600" dirty="0"/>
              <a:t>Singlish-aware review dataset</a:t>
            </a:r>
          </a:p>
          <a:p>
            <a:r>
              <a:rPr lang="en-US" sz="1600" dirty="0"/>
              <a:t>Category-based credibility scores</a:t>
            </a:r>
          </a:p>
          <a:p>
            <a:endParaRPr lang="en-US" sz="1600" dirty="0"/>
          </a:p>
          <a:p>
            <a:r>
              <a:rPr lang="en-US" sz="1600" dirty="0" err="1"/>
              <a:t>Example:Plumbing</a:t>
            </a:r>
            <a:r>
              <a:rPr lang="en-US" sz="1600" dirty="0"/>
              <a:t> Score → 0.92</a:t>
            </a:r>
          </a:p>
          <a:p>
            <a:r>
              <a:rPr lang="en-US" sz="1600" dirty="0"/>
              <a:t>Electrical Score → 0.55</a:t>
            </a:r>
          </a:p>
          <a:p>
            <a:r>
              <a:rPr lang="en-US" sz="1600" b="1" dirty="0"/>
              <a:t>Technologies Used</a:t>
            </a:r>
          </a:p>
          <a:p>
            <a:r>
              <a:rPr lang="en-US" sz="1600" dirty="0"/>
              <a:t>Natural Language Processing (NLP)Machine Learning Sentiment </a:t>
            </a:r>
            <a:r>
              <a:rPr lang="en-US" sz="1600" dirty="0" err="1"/>
              <a:t>AnalysisPython</a:t>
            </a:r>
            <a:r>
              <a:rPr lang="en-US" sz="1600" dirty="0"/>
              <a:t> / Scikit-</a:t>
            </a:r>
            <a:r>
              <a:rPr lang="en-US" sz="1600" dirty="0" err="1"/>
              <a:t>learnNLTK</a:t>
            </a:r>
            <a:r>
              <a:rPr lang="en-US" sz="1600" dirty="0"/>
              <a:t> / </a:t>
            </a:r>
            <a:r>
              <a:rPr lang="en-US" sz="1600" dirty="0" err="1"/>
              <a:t>spaCyMySQL</a:t>
            </a:r>
            <a:r>
              <a:rPr lang="en-US" sz="1600" dirty="0"/>
              <a:t> / </a:t>
            </a:r>
            <a:r>
              <a:rPr lang="en-US" sz="1600" dirty="0" err="1"/>
              <a:t>PostgreSQLExpected</a:t>
            </a:r>
            <a:r>
              <a:rPr lang="en-US" sz="1600" dirty="0"/>
              <a:t> </a:t>
            </a:r>
            <a:r>
              <a:rPr lang="en-US" sz="1600" dirty="0" err="1"/>
              <a:t>OutcomeImprove</a:t>
            </a:r>
            <a:r>
              <a:rPr lang="en-US" sz="1600" dirty="0"/>
              <a:t> trust in the </a:t>
            </a:r>
            <a:r>
              <a:rPr lang="en-US" sz="1600" dirty="0" err="1"/>
              <a:t>platformHelp</a:t>
            </a:r>
            <a:r>
              <a:rPr lang="en-US" sz="1600" dirty="0"/>
              <a:t> users identify reliable </a:t>
            </a:r>
            <a:r>
              <a:rPr lang="en-US" sz="1600" dirty="0" err="1"/>
              <a:t>workersSupport</a:t>
            </a:r>
            <a:r>
              <a:rPr lang="en-US" sz="1600" dirty="0"/>
              <a:t> fair worker </a:t>
            </a:r>
            <a:r>
              <a:rPr lang="en-US" sz="1600" dirty="0" err="1"/>
              <a:t>reputationImprove</a:t>
            </a:r>
            <a:r>
              <a:rPr lang="en-US" sz="1600" dirty="0"/>
              <a:t> transparency in worker evaluation</a:t>
            </a:r>
          </a:p>
        </p:txBody>
      </p:sp>
    </p:spTree>
    <p:extLst>
      <p:ext uri="{BB962C8B-B14F-4D97-AF65-F5344CB8AC3E}">
        <p14:creationId xmlns:p14="http://schemas.microsoft.com/office/powerpoint/2010/main" val="8770500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0012BAC-575A-77CB-3CDB-C422C9892FF2}"/>
              </a:ext>
            </a:extLst>
          </p:cNvPr>
          <p:cNvSpPr txBox="1"/>
          <p:nvPr/>
        </p:nvSpPr>
        <p:spPr>
          <a:xfrm>
            <a:off x="381000" y="449424"/>
            <a:ext cx="7620000" cy="2031325"/>
          </a:xfrm>
          <a:prstGeom prst="rect">
            <a:avLst/>
          </a:prstGeom>
          <a:noFill/>
        </p:spPr>
        <p:txBody>
          <a:bodyPr wrap="square" rtlCol="0">
            <a:spAutoFit/>
          </a:bodyPr>
          <a:lstStyle/>
          <a:p>
            <a:r>
              <a:rPr lang="en-US" dirty="0"/>
              <a:t>Star rating</a:t>
            </a:r>
          </a:p>
          <a:p>
            <a:endParaRPr lang="en-US" dirty="0"/>
          </a:p>
          <a:p>
            <a:r>
              <a:rPr lang="en-US" b="1" dirty="0"/>
              <a:t>   (n/5)x10x60%</a:t>
            </a:r>
          </a:p>
          <a:p>
            <a:endParaRPr lang="en-US" b="1" dirty="0"/>
          </a:p>
          <a:p>
            <a:r>
              <a:rPr lang="en-US" dirty="0"/>
              <a:t>Sentiment rating</a:t>
            </a:r>
          </a:p>
          <a:p>
            <a:endParaRPr lang="en-US" dirty="0"/>
          </a:p>
          <a:p>
            <a:endParaRPr lang="en-US" dirty="0"/>
          </a:p>
        </p:txBody>
      </p:sp>
      <p:pic>
        <p:nvPicPr>
          <p:cNvPr id="6" name="Picture 5">
            <a:extLst>
              <a:ext uri="{FF2B5EF4-FFF2-40B4-BE49-F238E27FC236}">
                <a16:creationId xmlns:a16="http://schemas.microsoft.com/office/drawing/2014/main" id="{1EA162ED-1D98-B70F-8674-BF5A63A59768}"/>
              </a:ext>
            </a:extLst>
          </p:cNvPr>
          <p:cNvPicPr>
            <a:picLocks noChangeAspect="1"/>
          </p:cNvPicPr>
          <p:nvPr/>
        </p:nvPicPr>
        <p:blipFill>
          <a:blip r:embed="rId2"/>
          <a:stretch>
            <a:fillRect/>
          </a:stretch>
        </p:blipFill>
        <p:spPr>
          <a:xfrm>
            <a:off x="609600" y="2057400"/>
            <a:ext cx="8268854" cy="2915057"/>
          </a:xfrm>
          <a:prstGeom prst="rect">
            <a:avLst/>
          </a:prstGeom>
        </p:spPr>
      </p:pic>
    </p:spTree>
    <p:extLst>
      <p:ext uri="{BB962C8B-B14F-4D97-AF65-F5344CB8AC3E}">
        <p14:creationId xmlns:p14="http://schemas.microsoft.com/office/powerpoint/2010/main" val="42675196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E324FA-8201-3031-0909-7DAA002B31B1}"/>
              </a:ext>
            </a:extLst>
          </p:cNvPr>
          <p:cNvSpPr txBox="1"/>
          <p:nvPr/>
        </p:nvSpPr>
        <p:spPr>
          <a:xfrm>
            <a:off x="1849889" y="2142318"/>
            <a:ext cx="10504992"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IT22137982|A.J.T.M. Kumara</a:t>
            </a:r>
          </a:p>
        </p:txBody>
      </p:sp>
      <p:sp>
        <p:nvSpPr>
          <p:cNvPr id="3" name="TextBox 2">
            <a:extLst>
              <a:ext uri="{FF2B5EF4-FFF2-40B4-BE49-F238E27FC236}">
                <a16:creationId xmlns:a16="http://schemas.microsoft.com/office/drawing/2014/main" id="{A7A86FC4-F227-C71F-9C9E-D5B23EFA7801}"/>
              </a:ext>
            </a:extLst>
          </p:cNvPr>
          <p:cNvSpPr txBox="1"/>
          <p:nvPr/>
        </p:nvSpPr>
        <p:spPr>
          <a:xfrm>
            <a:off x="1849889" y="3171608"/>
            <a:ext cx="8935452" cy="584775"/>
          </a:xfrm>
          <a:prstGeom prst="rect">
            <a:avLst/>
          </a:prstGeom>
          <a:noFill/>
        </p:spPr>
        <p:txBody>
          <a:bodyPr wrap="square" rtlCol="0">
            <a:spAutoFit/>
          </a:bodyPr>
          <a:lstStyle/>
          <a:p>
            <a:r>
              <a:rPr lang="en-US" sz="3200" b="1" dirty="0"/>
              <a:t>Intelligent Dynamic Fare Estimation System </a:t>
            </a:r>
            <a:endParaRPr lang="en-US" sz="3200" b="1" dirty="0">
              <a:latin typeface="Times New Roman" panose="02020603050405020304" pitchFamily="18" charset="0"/>
              <a:cs typeface="Times New Roman" panose="02020603050405020304" pitchFamily="18" charset="0"/>
            </a:endParaRPr>
          </a:p>
        </p:txBody>
      </p:sp>
      <p:pic>
        <p:nvPicPr>
          <p:cNvPr id="4" name="Picture 3" descr="A person wearing glasses and a blue shirt&#10;&#10;Description automatically generated">
            <a:extLst>
              <a:ext uri="{FF2B5EF4-FFF2-40B4-BE49-F238E27FC236}">
                <a16:creationId xmlns:a16="http://schemas.microsoft.com/office/drawing/2014/main" id="{2DF1D267-E502-0BD5-83D0-510A0EBA471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10054" y="0"/>
            <a:ext cx="2223733" cy="2282580"/>
          </a:xfrm>
          <a:prstGeom prst="rect">
            <a:avLst/>
          </a:prstGeom>
        </p:spPr>
      </p:pic>
    </p:spTree>
    <p:extLst>
      <p:ext uri="{BB962C8B-B14F-4D97-AF65-F5344CB8AC3E}">
        <p14:creationId xmlns:p14="http://schemas.microsoft.com/office/powerpoint/2010/main" val="26228543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E1DFB4E-540F-F78C-87B4-20451225F987}"/>
              </a:ext>
            </a:extLst>
          </p:cNvPr>
          <p:cNvSpPr txBox="1"/>
          <p:nvPr/>
        </p:nvSpPr>
        <p:spPr>
          <a:xfrm>
            <a:off x="533400" y="654394"/>
            <a:ext cx="11325726" cy="5549211"/>
          </a:xfrm>
          <a:prstGeom prst="rect">
            <a:avLst/>
          </a:prstGeom>
          <a:noFill/>
        </p:spPr>
        <p:txBody>
          <a:bodyPr wrap="square" rtlCol="0">
            <a:spAutoFit/>
          </a:bodyPr>
          <a:lstStyle/>
          <a:p>
            <a:pPr marR="0" lvl="0">
              <a:lnSpc>
                <a:spcPct val="107000"/>
              </a:lnSpc>
              <a:spcBef>
                <a:spcPts val="0"/>
              </a:spcBef>
              <a:spcAft>
                <a:spcPts val="800"/>
              </a:spcAft>
              <a:buSzPts val="1000"/>
              <a:tabLst>
                <a:tab pos="457200" algn="l"/>
              </a:tabLst>
            </a:pP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Dynamic Context-Aware Pricing Engine: Automates technician travel cost estimation by integrating real-time routing distance, traffic congestion metrics via Google Maps, and adverse weather data via </a:t>
            </a:r>
            <a:r>
              <a:rPr lang="en-US" sz="1600" b="1" dirty="0" err="1">
                <a:effectLst/>
                <a:latin typeface="Times New Roman" panose="02020603050405020304" pitchFamily="18" charset="0"/>
                <a:ea typeface="Times New Roman" panose="02020603050405020304" pitchFamily="18" charset="0"/>
                <a:cs typeface="Times New Roman" panose="02020603050405020304" pitchFamily="18" charset="0"/>
              </a:rPr>
              <a:t>OpenWeatherMap</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a:t>
            </a:r>
          </a:p>
          <a:p>
            <a:pPr marR="0" lvl="0">
              <a:lnSpc>
                <a:spcPct val="107000"/>
              </a:lnSpc>
              <a:spcBef>
                <a:spcPts val="0"/>
              </a:spcBef>
              <a:spcAft>
                <a:spcPts val="800"/>
              </a:spcAft>
              <a:buSzPts val="1000"/>
              <a:tabLst>
                <a:tab pos="457200" algn="l"/>
              </a:tabLst>
            </a:pPr>
            <a:endPar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R="0" lvl="0">
              <a:lnSpc>
                <a:spcPct val="107000"/>
              </a:lnSpc>
              <a:spcBef>
                <a:spcPts val="0"/>
              </a:spcBef>
              <a:spcAft>
                <a:spcPts val="800"/>
              </a:spcAft>
              <a:buSzPts val="1000"/>
              <a:tabLst>
                <a:tab pos="457200" algn="l"/>
              </a:tabLst>
            </a:pP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Economic Resilience with Fuel Indexing: Safeguards service worker margins against macroeconomic volatility by dynamically indexing distance rates to real-time Sri Lankan fuel benchmarks (CEYPETCO rates).</a:t>
            </a:r>
          </a:p>
          <a:p>
            <a:pPr marR="0" lvl="0">
              <a:lnSpc>
                <a:spcPct val="107000"/>
              </a:lnSpc>
              <a:spcBef>
                <a:spcPts val="0"/>
              </a:spcBef>
              <a:spcAft>
                <a:spcPts val="800"/>
              </a:spcAft>
              <a:buSzPts val="1000"/>
              <a:tabLst>
                <a:tab pos="457200" algn="l"/>
              </a:tabLst>
            </a:pPr>
            <a:endPar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R="0" lvl="0">
              <a:lnSpc>
                <a:spcPct val="107000"/>
              </a:lnSpc>
              <a:spcBef>
                <a:spcPts val="0"/>
              </a:spcBef>
              <a:spcAft>
                <a:spcPts val="800"/>
              </a:spcAft>
              <a:buSzPts val="1000"/>
              <a:tabLst>
                <a:tab pos="457200" algn="l"/>
              </a:tabLst>
            </a:pP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Cloud-Native &amp; Decoupled Architecture: Built as an independent, scalable RESTful microservice deployed on Render (</a:t>
            </a:r>
            <a:r>
              <a:rPr lang="en-US" sz="1600" b="1" dirty="0" err="1">
                <a:effectLst/>
                <a:latin typeface="Times New Roman" panose="02020603050405020304" pitchFamily="18" charset="0"/>
                <a:ea typeface="Times New Roman" panose="02020603050405020304" pitchFamily="18" charset="0"/>
                <a:cs typeface="Times New Roman" panose="02020603050405020304" pitchFamily="18" charset="0"/>
              </a:rPr>
              <a:t>Gunicorn</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/Flask), enabling seamless cross-platform integration with Flutter mobile applications and external systems.</a:t>
            </a:r>
          </a:p>
          <a:p>
            <a:pPr marR="0" lvl="0">
              <a:lnSpc>
                <a:spcPct val="107000"/>
              </a:lnSpc>
              <a:spcBef>
                <a:spcPts val="0"/>
              </a:spcBef>
              <a:spcAft>
                <a:spcPts val="800"/>
              </a:spcAft>
              <a:buSzPts val="1000"/>
              <a:tabLst>
                <a:tab pos="457200" algn="l"/>
              </a:tabLst>
            </a:pPr>
            <a:endPar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R="0" lvl="0">
              <a:lnSpc>
                <a:spcPct val="107000"/>
              </a:lnSpc>
              <a:spcBef>
                <a:spcPts val="0"/>
              </a:spcBef>
              <a:spcAft>
                <a:spcPts val="800"/>
              </a:spcAft>
              <a:buSzPts val="1000"/>
              <a:tabLst>
                <a:tab pos="457200" algn="l"/>
              </a:tabLst>
            </a:pPr>
            <a:endPar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R="0" lvl="0">
              <a:lnSpc>
                <a:spcPct val="107000"/>
              </a:lnSpc>
              <a:spcBef>
                <a:spcPts val="0"/>
              </a:spcBef>
              <a:spcAft>
                <a:spcPts val="800"/>
              </a:spcAft>
              <a:buSzPts val="1000"/>
              <a:tabLst>
                <a:tab pos="457200" algn="l"/>
              </a:tabLst>
            </a:pP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AI-Driven Transparent Pricing: An automated machine learning pricing engine that accurately estimates fair, localized repair price ranges (minimum to maximum) across diverse home maintenance services, eliminating unfair overcharging and guesswork for users.</a:t>
            </a:r>
          </a:p>
          <a:p>
            <a:pPr marR="0" lvl="0">
              <a:lnSpc>
                <a:spcPct val="107000"/>
              </a:lnSpc>
              <a:spcBef>
                <a:spcPts val="0"/>
              </a:spcBef>
              <a:spcAft>
                <a:spcPts val="800"/>
              </a:spcAft>
              <a:buSzPts val="1000"/>
              <a:tabLst>
                <a:tab pos="457200" algn="l"/>
              </a:tabLst>
            </a:pPr>
            <a:endPar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R="0" lvl="0">
              <a:lnSpc>
                <a:spcPct val="107000"/>
              </a:lnSpc>
              <a:spcBef>
                <a:spcPts val="0"/>
              </a:spcBef>
              <a:spcAft>
                <a:spcPts val="800"/>
              </a:spcAft>
              <a:buSzPts val="1000"/>
              <a:tabLst>
                <a:tab pos="457200" algn="l"/>
              </a:tabLst>
            </a:pP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Instant End-to-End Service Matching: A responsive, full-stack platform featuring dynamic service discovery, low-latency REST APIs, and seamless multi-device accessibility to connect homeowners with verified local technicians efficiently.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1200" dirty="0"/>
          </a:p>
        </p:txBody>
      </p:sp>
      <p:sp>
        <p:nvSpPr>
          <p:cNvPr id="4" name="Rectangle 3">
            <a:extLst>
              <a:ext uri="{FF2B5EF4-FFF2-40B4-BE49-F238E27FC236}">
                <a16:creationId xmlns:a16="http://schemas.microsoft.com/office/drawing/2014/main" id="{2CFC3A5B-1133-6F42-8E1D-A0E7E9A74CDE}"/>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dirty="0">
                <a:solidFill>
                  <a:schemeClr val="tx1"/>
                </a:solidFill>
              </a:rPr>
              <a:t>IT22137982  |  </a:t>
            </a:r>
            <a:r>
              <a:rPr lang="pt-BR" b="1" dirty="0">
                <a:solidFill>
                  <a:schemeClr val="tx1"/>
                </a:solidFill>
              </a:rPr>
              <a:t>Kumara A.J.T.M</a:t>
            </a:r>
            <a:r>
              <a:rPr lang="en-US" sz="1800" b="1" dirty="0">
                <a:solidFill>
                  <a:schemeClr val="tx1"/>
                </a:solidFill>
              </a:rPr>
              <a:t>|   </a:t>
            </a:r>
            <a:r>
              <a:rPr lang="en-US" b="1" dirty="0">
                <a:solidFill>
                  <a:schemeClr val="tx1"/>
                </a:solidFill>
              </a:rPr>
              <a:t>R26-IT-090</a:t>
            </a:r>
            <a:endParaRPr lang="en-US" sz="1800" b="1" dirty="0">
              <a:solidFill>
                <a:schemeClr val="tx1"/>
              </a:solidFill>
            </a:endParaRPr>
          </a:p>
        </p:txBody>
      </p:sp>
      <p:sp>
        <p:nvSpPr>
          <p:cNvPr id="5" name="TextBox 4">
            <a:extLst>
              <a:ext uri="{FF2B5EF4-FFF2-40B4-BE49-F238E27FC236}">
                <a16:creationId xmlns:a16="http://schemas.microsoft.com/office/drawing/2014/main" id="{FA6DEB51-8883-B317-708C-6B3994F95BA4}"/>
              </a:ext>
            </a:extLst>
          </p:cNvPr>
          <p:cNvSpPr txBox="1"/>
          <p:nvPr/>
        </p:nvSpPr>
        <p:spPr>
          <a:xfrm>
            <a:off x="3490011" y="-21686"/>
            <a:ext cx="4724401" cy="369332"/>
          </a:xfrm>
          <a:prstGeom prst="rect">
            <a:avLst/>
          </a:prstGeom>
          <a:noFill/>
        </p:spPr>
        <p:txBody>
          <a:bodyPr wrap="square">
            <a:spAutoFit/>
          </a:bodyPr>
          <a:lstStyle/>
          <a:p>
            <a:r>
              <a:rPr lang="en-US" b="1" dirty="0">
                <a:latin typeface="Times New Roman" panose="02020603050405020304" pitchFamily="18" charset="0"/>
                <a:ea typeface="Times New Roman" panose="02020603050405020304" pitchFamily="18" charset="0"/>
                <a:cs typeface="Times New Roman" panose="02020603050405020304" pitchFamily="18" charset="0"/>
              </a:rPr>
              <a:t>Intelligent Dynamic Fare Estimation System</a:t>
            </a:r>
            <a:endParaRPr lang="en-US" b="1"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76271991"/>
      </p:ext>
    </p:extLst>
  </p:cSld>
  <p:clrMapOvr>
    <a:masterClrMapping/>
  </p:clrMapOvr>
</p:sld>
</file>

<file path=ppt/theme/theme1.xml><?xml version="1.0" encoding="utf-8"?>
<a:theme xmlns:a="http://schemas.openxmlformats.org/drawingml/2006/main" name="Office Theme">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Apothecary">
      <a:fillStyleLst>
        <a:solidFill>
          <a:schemeClr val="phClr"/>
        </a:solidFill>
        <a:gradFill rotWithShape="1">
          <a:gsLst>
            <a:gs pos="0">
              <a:schemeClr val="phClr">
                <a:tint val="1000"/>
                <a:satMod val="100000"/>
              </a:schemeClr>
            </a:gs>
            <a:gs pos="68000">
              <a:schemeClr val="phClr">
                <a:tint val="77000"/>
                <a:satMod val="100000"/>
              </a:schemeClr>
            </a:gs>
            <a:gs pos="81000">
              <a:schemeClr val="phClr">
                <a:tint val="79000"/>
                <a:satMod val="100000"/>
              </a:schemeClr>
            </a:gs>
            <a:gs pos="86000">
              <a:schemeClr val="phClr">
                <a:tint val="73000"/>
                <a:satMod val="100000"/>
              </a:schemeClr>
            </a:gs>
            <a:gs pos="100000">
              <a:schemeClr val="phClr">
                <a:tint val="35000"/>
                <a:satMod val="100000"/>
              </a:schemeClr>
            </a:gs>
          </a:gsLst>
          <a:lin ang="5400000" scaled="0"/>
        </a:gradFill>
        <a:gradFill rotWithShape="1">
          <a:gsLst>
            <a:gs pos="0">
              <a:schemeClr val="phClr">
                <a:tint val="73000"/>
                <a:shade val="100000"/>
                <a:satMod val="150000"/>
              </a:schemeClr>
            </a:gs>
            <a:gs pos="25000">
              <a:schemeClr val="phClr">
                <a:tint val="96000"/>
                <a:shade val="80000"/>
                <a:satMod val="105000"/>
              </a:schemeClr>
            </a:gs>
            <a:gs pos="38000">
              <a:schemeClr val="phClr">
                <a:tint val="96000"/>
                <a:shade val="59000"/>
                <a:satMod val="120000"/>
              </a:schemeClr>
            </a:gs>
            <a:gs pos="55000">
              <a:schemeClr val="phClr">
                <a:tint val="100000"/>
                <a:shade val="57000"/>
                <a:satMod val="120000"/>
              </a:schemeClr>
            </a:gs>
            <a:gs pos="80000">
              <a:schemeClr val="phClr">
                <a:tint val="100000"/>
                <a:shade val="56000"/>
                <a:satMod val="145000"/>
              </a:schemeClr>
            </a:gs>
            <a:gs pos="88000">
              <a:schemeClr val="phClr">
                <a:tint val="100000"/>
                <a:shade val="63000"/>
                <a:satMod val="160000"/>
              </a:schemeClr>
            </a:gs>
            <a:gs pos="100000">
              <a:schemeClr val="phClr">
                <a:tint val="99000"/>
                <a:shade val="100000"/>
                <a:satMod val="155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scene3d>
            <a:camera prst="orthographicFront">
              <a:rot lat="0" lon="0" rev="0"/>
            </a:camera>
            <a:lightRig rig="glow" dir="tl">
              <a:rot lat="0" lon="0" rev="1800000"/>
            </a:lightRig>
          </a:scene3d>
          <a:sp3d contourW="10160" prstMaterial="dkEdge">
            <a:bevelT w="0" h="0" prst="angle"/>
            <a:contourClr>
              <a:schemeClr val="phClr">
                <a:shade val="30000"/>
                <a:satMod val="150000"/>
              </a:schemeClr>
            </a:contourClr>
          </a:sp3d>
        </a:effectStyle>
        <a:effectStyle>
          <a:effectLst>
            <a:glow rad="50800">
              <a:schemeClr val="phClr">
                <a:tint val="68000"/>
                <a:shade val="93000"/>
                <a:alpha val="37000"/>
                <a:satMod val="250000"/>
              </a:schemeClr>
            </a:glow>
          </a:effectLst>
          <a:scene3d>
            <a:camera prst="orthographicFront">
              <a:rot lat="0" lon="0" rev="0"/>
            </a:camera>
            <a:lightRig rig="glow" dir="t">
              <a:rot lat="0" lon="0" rev="1800000"/>
            </a:lightRig>
          </a:scene3d>
          <a:sp3d contourW="10160" prstMaterial="dkEdge">
            <a:bevelT w="20320" h="19050" prst="angle"/>
            <a:contourClr>
              <a:schemeClr val="phClr">
                <a:shade val="30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D08376A6-FCE2-4A8E-BFFF-11B69BD93976}" vid="{0A5F165D-9E14-4628-BA29-A51D7051FDC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42d1e402-c42d-419a-bd83-d8d365e28f11"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8476C4981FE2047819081DBF807662E" ma:contentTypeVersion="14" ma:contentTypeDescription="Create a new document." ma:contentTypeScope="" ma:versionID="3e0aff317a34c13b9ffe6d6bae97ba52">
  <xsd:schema xmlns:xsd="http://www.w3.org/2001/XMLSchema" xmlns:xs="http://www.w3.org/2001/XMLSchema" xmlns:p="http://schemas.microsoft.com/office/2006/metadata/properties" xmlns:ns3="42d1e402-c42d-419a-bd83-d8d365e28f11" xmlns:ns4="fdf483cb-5937-4af3-915e-55fd2d7d3a90" targetNamespace="http://schemas.microsoft.com/office/2006/metadata/properties" ma:root="true" ma:fieldsID="a8297ac875bbd16b627fb1e03d384272" ns3:_="" ns4:_="">
    <xsd:import namespace="42d1e402-c42d-419a-bd83-d8d365e28f11"/>
    <xsd:import namespace="fdf483cb-5937-4af3-915e-55fd2d7d3a90"/>
    <xsd:element name="properties">
      <xsd:complexType>
        <xsd:sequence>
          <xsd:element name="documentManagement">
            <xsd:complexType>
              <xsd:all>
                <xsd:element ref="ns3:MediaServiceMetadata" minOccurs="0"/>
                <xsd:element ref="ns3:MediaServiceFastMetadata" minOccurs="0"/>
                <xsd:element ref="ns3:_activity" minOccurs="0"/>
                <xsd:element ref="ns3:MediaServiceObjectDetectorVersions" minOccurs="0"/>
                <xsd:element ref="ns4:SharedWithUsers" minOccurs="0"/>
                <xsd:element ref="ns4:SharedWithDetails" minOccurs="0"/>
                <xsd:element ref="ns4:SharingHintHash" minOccurs="0"/>
                <xsd:element ref="ns3:MediaServiceSearchProperties" minOccurs="0"/>
                <xsd:element ref="ns3:MediaServiceDateTaken" minOccurs="0"/>
                <xsd:element ref="ns3:MediaServiceSystemTags" minOccurs="0"/>
                <xsd:element ref="ns3:MediaServiceGenerationTime" minOccurs="0"/>
                <xsd:element ref="ns3:MediaServiceEventHashCode" minOccurs="0"/>
                <xsd:element ref="ns3:MediaLengthInSeconds"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2d1e402-c42d-419a-bd83-d8d365e28f1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0" nillable="true" ma:displayName="_activity" ma:hidden="true" ma:internalName="_activity">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df483cb-5937-4af3-915e-55fd2d7d3a9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CD51F9C-D2ED-43B0-AD9A-B6E6AB922127}">
  <ds:schemaRefs>
    <ds:schemaRef ds:uri="http://schemas.microsoft.com/office/infopath/2007/PartnerControls"/>
    <ds:schemaRef ds:uri="fdf483cb-5937-4af3-915e-55fd2d7d3a90"/>
    <ds:schemaRef ds:uri="http://purl.org/dc/dcmitype/"/>
    <ds:schemaRef ds:uri="http://purl.org/dc/terms/"/>
    <ds:schemaRef ds:uri="http://purl.org/dc/elements/1.1/"/>
    <ds:schemaRef ds:uri="http://schemas.microsoft.com/office/2006/metadata/properties"/>
    <ds:schemaRef ds:uri="42d1e402-c42d-419a-bd83-d8d365e28f11"/>
    <ds:schemaRef ds:uri="http://schemas.microsoft.com/office/2006/documentManagement/type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901A4370-D0BA-4DC6-BD51-167E9E90000B}">
  <ds:schemaRefs>
    <ds:schemaRef ds:uri="http://schemas.microsoft.com/sharepoint/v3/contenttype/forms"/>
  </ds:schemaRefs>
</ds:datastoreItem>
</file>

<file path=customXml/itemProps3.xml><?xml version="1.0" encoding="utf-8"?>
<ds:datastoreItem xmlns:ds="http://schemas.openxmlformats.org/officeDocument/2006/customXml" ds:itemID="{2825C4F3-9A4B-4528-BB12-5C4F225A93F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2d1e402-c42d-419a-bd83-d8d365e28f11"/>
    <ds:schemaRef ds:uri="fdf483cb-5937-4af3-915e-55fd2d7d3a9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1337832b-e06e-4e87-85f5-ecfde68f9c8e}" enabled="1" method="Standard" siteId="{44e3cf94-19c9-4e32-96c3-14f5bf01391a}" removed="0"/>
</clbl:labelList>
</file>

<file path=docProps/app.xml><?xml version="1.0" encoding="utf-8"?>
<Properties xmlns="http://schemas.openxmlformats.org/officeDocument/2006/extended-properties" xmlns:vt="http://schemas.openxmlformats.org/officeDocument/2006/docPropsVTypes">
  <Template>Proposal prsentation stuct (1)</Template>
  <TotalTime>5311</TotalTime>
  <Words>850</Words>
  <Application>Microsoft Office PowerPoint</Application>
  <PresentationFormat>Widescreen</PresentationFormat>
  <Paragraphs>95</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Adobe Devanagari</vt:lpstr>
      <vt:lpstr>Arial</vt:lpstr>
      <vt:lpstr>Calibri</vt:lpstr>
      <vt:lpstr>Cambria</vt:lpstr>
      <vt:lpstr>Times New Roman</vt:lpstr>
      <vt:lpstr>Wingdings</vt:lpstr>
      <vt:lpstr>Office Theme</vt:lpstr>
      <vt:lpstr>AI-Powered Smart Service Marketplace with Intelligent Discovery and Dynamic Pricing Models </vt:lpstr>
      <vt:lpstr>IT22551320 | BANDARA W A M 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AI-Powered Smart Service Marketplace with Intelligent Discovery and Dynamic Pricing Models </dc:title>
  <dc:creator>Koliya Pulasinghe</dc:creator>
  <cp:lastModifiedBy>KUMARA A J T M it22137982</cp:lastModifiedBy>
  <cp:revision>22</cp:revision>
  <dcterms:created xsi:type="dcterms:W3CDTF">2025-08-25T09:34:25Z</dcterms:created>
  <dcterms:modified xsi:type="dcterms:W3CDTF">2026-08-31T09:49:50Z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0x01010018476C4981FE2047819081DBF807662E</vt:lpwstr>
  </property>
</Properties>
</file>