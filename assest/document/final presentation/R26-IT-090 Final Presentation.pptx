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97" r:id="rId5"/>
    <p:sldId id="325" r:id="rId6"/>
    <p:sldId id="264" r:id="rId7"/>
    <p:sldId id="317" r:id="rId8"/>
    <p:sldId id="308" r:id="rId9"/>
    <p:sldId id="322" r:id="rId10"/>
    <p:sldId id="32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10/18/2026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645-3AA4-2E3D-571F-786B8D4B6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90600"/>
            <a:ext cx="10363200" cy="14700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AI-Powered Smart Service Marketplace with Intelligent Discovery and Dynamic Pricing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276600"/>
            <a:ext cx="8534400" cy="9144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R26-IT-090</a:t>
            </a:r>
            <a:r>
              <a:rPr lang="en-US" dirty="0"/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BD08EED-C956-7807-A3D6-576636715EF1}"/>
              </a:ext>
            </a:extLst>
          </p:cNvPr>
          <p:cNvSpPr txBox="1">
            <a:spLocks/>
          </p:cNvSpPr>
          <p:nvPr/>
        </p:nvSpPr>
        <p:spPr>
          <a:xfrm>
            <a:off x="1828800" y="4092575"/>
            <a:ext cx="85344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PP-2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7E6D06-03BA-6CC5-8A1E-A1FF0FE2E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PP2 Comments and Actions Taken (Table)​</a:t>
            </a:r>
          </a:p>
          <a:p>
            <a:pPr marL="457200" lvl="0" indent="-457200" algn="l"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If you didn’t receive any omit this slide​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54EEE3D2-5D0F-2E2D-BB44-AD53536E9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highlight>
                  <a:srgbClr val="FFFF00"/>
                </a:highlight>
              </a:rPr>
              <a:t>Overall 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67982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3" y="685800"/>
            <a:ext cx="7696200" cy="755426"/>
          </a:xfrm>
        </p:spPr>
        <p:txBody>
          <a:bodyPr/>
          <a:lstStyle/>
          <a:p>
            <a:r>
              <a:rPr lang="en-US" dirty="0"/>
              <a:t>IT22551320 | BANDARA W A M 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1723" y="1524000"/>
            <a:ext cx="9296400" cy="609599"/>
          </a:xfrm>
        </p:spPr>
        <p:txBody>
          <a:bodyPr>
            <a:normAutofit fontScale="92500"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Intelligent Service Discovery and Intent Recognition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IT22551320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b="1" dirty="0">
                <a:solidFill>
                  <a:schemeClr val="tx1"/>
                </a:solidFill>
              </a:rPr>
              <a:t>Bandara W A M S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9FF3FF-FB4E-F30C-7868-4E7058825E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6" t="-638" r="9504" b="638"/>
          <a:stretch>
            <a:fillRect/>
          </a:stretch>
        </p:blipFill>
        <p:spPr>
          <a:xfrm>
            <a:off x="10210800" y="0"/>
            <a:ext cx="1981200" cy="23155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362E28-2D3D-8DDF-3538-DD5835F49C0D}"/>
              </a:ext>
            </a:extLst>
          </p:cNvPr>
          <p:cNvSpPr txBox="1"/>
          <p:nvPr/>
        </p:nvSpPr>
        <p:spPr>
          <a:xfrm>
            <a:off x="631723" y="3810000"/>
            <a:ext cx="104515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domain-specific Singlish NLP classifier for the Sri Lankan household service sector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on a custom, locally </a:t>
            </a:r>
            <a:r>
              <a:rPr lang="en-US" dirty="0" err="1"/>
              <a:t>synthesised</a:t>
            </a:r>
            <a:r>
              <a:rPr lang="en-US" dirty="0"/>
              <a:t> Singlish dataset - accurate, affordable, and privacy-compliant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Used pretrained model from </a:t>
            </a:r>
            <a:r>
              <a:rPr lang="en-US" dirty="0" err="1"/>
              <a:t>HuggingFace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DBAF5-082F-7479-C08C-AEE50E00C68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IT22283658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b="1" dirty="0" err="1">
                <a:solidFill>
                  <a:schemeClr val="tx1"/>
                </a:solidFill>
              </a:rPr>
              <a:t>Shiwanthika</a:t>
            </a:r>
            <a:r>
              <a:rPr lang="en-US" b="1" dirty="0">
                <a:solidFill>
                  <a:schemeClr val="tx1"/>
                </a:solidFill>
              </a:rPr>
              <a:t> M </a:t>
            </a:r>
            <a:r>
              <a:rPr lang="en-US" b="1" dirty="0" err="1">
                <a:solidFill>
                  <a:schemeClr val="tx1"/>
                </a:solidFill>
              </a:rPr>
              <a:t>M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b="1" dirty="0">
                <a:solidFill>
                  <a:schemeClr val="tx1"/>
                </a:solidFill>
              </a:rPr>
              <a:t>R26-IT-090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EC952-F13E-5595-6CB4-6D8C7B90E89B}"/>
              </a:ext>
            </a:extLst>
          </p:cNvPr>
          <p:cNvSpPr txBox="1"/>
          <p:nvPr/>
        </p:nvSpPr>
        <p:spPr>
          <a:xfrm>
            <a:off x="837234" y="1637777"/>
            <a:ext cx="68589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Worker Recommendation Engine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4634D-1207-CBCB-043F-CA82E67B63EF}"/>
              </a:ext>
            </a:extLst>
          </p:cNvPr>
          <p:cNvSpPr txBox="1"/>
          <p:nvPr/>
        </p:nvSpPr>
        <p:spPr>
          <a:xfrm>
            <a:off x="837234" y="778238"/>
            <a:ext cx="8306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IT22283658 | SHIWANTHIKA M.M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48AB10-3B26-BC8C-CF75-1DCC313F05A0}"/>
              </a:ext>
            </a:extLst>
          </p:cNvPr>
          <p:cNvSpPr txBox="1"/>
          <p:nvPr/>
        </p:nvSpPr>
        <p:spPr>
          <a:xfrm>
            <a:off x="837234" y="3139097"/>
            <a:ext cx="107441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Ranks available workers for a customer’s job request using a Multi-Criteria Decision Making (MCDM) model, returning an ordered shortlist rather than a single yes/no match.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Scores each worker on four criteria - NVQ qualification level, customer rating (from Component 03), years of experience and travel distance - normalised to a common 0–100 scale.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Criterion weights were derived empirically through a survey of 39 industry professionals and an OLS regression on 468 observations, not assigned by the researcher.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Produces the final suitability score </a:t>
            </a:r>
            <a:r>
              <a:rPr lang="en-SG" b="1" dirty="0"/>
              <a:t>S = 0.084·N̂ + 0.305·R̂ + 0.215·Ê + 0.396·D̂</a:t>
            </a:r>
            <a:r>
              <a:rPr lang="en-SG" dirty="0"/>
              <a:t>, with distance treated as a cost criterion and inverted.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Deployed as a </a:t>
            </a:r>
            <a:r>
              <a:rPr lang="en-SG" dirty="0" err="1"/>
              <a:t>FastAPI</a:t>
            </a:r>
            <a:r>
              <a:rPr lang="en-SG" dirty="0"/>
              <a:t> service on Render and integrated with the Flutter mobile app, ranking 10,000 worker profiles in under 5 </a:t>
            </a:r>
            <a:r>
              <a:rPr lang="en-SG" dirty="0" err="1"/>
              <a:t>ms</a:t>
            </a:r>
            <a:r>
              <a:rPr lang="en-SG" dirty="0"/>
              <a:t>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EDED81-B6F6-2E24-C100-278E40A03E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8845" y="0"/>
            <a:ext cx="2013155" cy="23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05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C700CE50-FEBA-87DE-0F60-8D0EB5725047}"/>
              </a:ext>
            </a:extLst>
          </p:cNvPr>
          <p:cNvSpPr txBox="1">
            <a:spLocks/>
          </p:cNvSpPr>
          <p:nvPr/>
        </p:nvSpPr>
        <p:spPr>
          <a:xfrm>
            <a:off x="838200" y="562045"/>
            <a:ext cx="8305800" cy="75542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US" sz="4000" b="1" dirty="0"/>
              <a:t>IT22643704 | </a:t>
            </a:r>
            <a:r>
              <a:rPr lang="en-US" sz="4000" b="1" dirty="0" err="1"/>
              <a:t>Wijebandara</a:t>
            </a:r>
            <a:r>
              <a:rPr lang="en-US" sz="4000" b="1" dirty="0"/>
              <a:t> W.N.S.K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56C7116-29FF-FC68-A0DB-AFE1AA407727}"/>
              </a:ext>
            </a:extLst>
          </p:cNvPr>
          <p:cNvSpPr txBox="1">
            <a:spLocks/>
          </p:cNvSpPr>
          <p:nvPr/>
        </p:nvSpPr>
        <p:spPr>
          <a:xfrm>
            <a:off x="838200" y="1524000"/>
            <a:ext cx="9372600" cy="60959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Intelligent Service Discovery and Intent Recognition System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519F90-1F8D-7007-3E3B-11D445FD02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9" r="-4758"/>
          <a:stretch>
            <a:fillRect/>
          </a:stretch>
        </p:blipFill>
        <p:spPr>
          <a:xfrm>
            <a:off x="10134600" y="0"/>
            <a:ext cx="2151598" cy="23155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1EC3BF-DC26-46A3-C097-18489AD974D0}"/>
              </a:ext>
            </a:extLst>
          </p:cNvPr>
          <p:cNvSpPr txBox="1"/>
          <p:nvPr/>
        </p:nvSpPr>
        <p:spPr>
          <a:xfrm>
            <a:off x="838200" y="3810000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Analyzes verified customer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sentiment analysis + star ratings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worker credibility scores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Singlish customer reviews</a:t>
            </a:r>
          </a:p>
        </p:txBody>
      </p:sp>
    </p:spTree>
    <p:extLst>
      <p:ext uri="{BB962C8B-B14F-4D97-AF65-F5344CB8AC3E}">
        <p14:creationId xmlns:p14="http://schemas.microsoft.com/office/powerpoint/2010/main" val="3671167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E324FA-8201-3031-0909-7DAA002B31B1}"/>
              </a:ext>
            </a:extLst>
          </p:cNvPr>
          <p:cNvSpPr txBox="1"/>
          <p:nvPr/>
        </p:nvSpPr>
        <p:spPr>
          <a:xfrm>
            <a:off x="1066800" y="685800"/>
            <a:ext cx="7065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IT22137982|A.J.T.M. Kumara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A86FC4-F227-C71F-9C9E-D5B23EFA7801}"/>
              </a:ext>
            </a:extLst>
          </p:cNvPr>
          <p:cNvSpPr txBox="1"/>
          <p:nvPr/>
        </p:nvSpPr>
        <p:spPr>
          <a:xfrm>
            <a:off x="1066799" y="1790137"/>
            <a:ext cx="706551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Intelligent Dynamic Fare Estimation System 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2DF1D267-E502-0BD5-83D0-510A0EBA47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054" y="0"/>
            <a:ext cx="2223733" cy="22825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E9F32E-322C-011A-A642-75E56252D19E}"/>
              </a:ext>
            </a:extLst>
          </p:cNvPr>
          <p:cNvSpPr txBox="1"/>
          <p:nvPr/>
        </p:nvSpPr>
        <p:spPr>
          <a:xfrm>
            <a:off x="1066799" y="2514600"/>
            <a:ext cx="10518059" cy="3936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Dynamic Context-Aware Pricing Engine: Automates technician travel cost estimation by integrating real-time routing distance, traffic congestion metrics via Google Maps, and adverse weather data via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OpenWeatherMap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Economic Resilience with Fuel Indexing: Safeguards service worker margins against macroeconomic volatility by dynamically indexing distance rates to real-time Sri Lankan fuel benchmarks (CEYPETCO rates).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Cloud-Native &amp; Decoupled Architecture: Built as an independent, scalable RESTful microservice deployed on Render (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Gunicorn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/Flask), enabling seamless cross-platform integration with Flutter mobile applications and external systems.</a:t>
            </a:r>
          </a:p>
          <a:p>
            <a:pPr marL="285750" marR="0" lvl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AI-Driven Transparent Pricing: An automated machine learning pricing engine that accurately estimates fair, localized repair price ranges (minimum to maximum) across diverse home maintenance services, eliminating unfair overcharging and guesswork for users.</a:t>
            </a:r>
          </a:p>
        </p:txBody>
      </p:sp>
    </p:spTree>
    <p:extLst>
      <p:ext uri="{BB962C8B-B14F-4D97-AF65-F5344CB8AC3E}">
        <p14:creationId xmlns:p14="http://schemas.microsoft.com/office/powerpoint/2010/main" val="262285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40B572-0866-2F6B-C518-5FBDA50A9469}"/>
              </a:ext>
            </a:extLst>
          </p:cNvPr>
          <p:cNvSpPr txBox="1"/>
          <p:nvPr/>
        </p:nvSpPr>
        <p:spPr>
          <a:xfrm>
            <a:off x="3048000" y="1927628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spc="0" dirty="0">
                <a:solidFill>
                  <a:schemeClr val="tx1"/>
                </a:solidFill>
                <a:effectLst/>
                <a:latin typeface="+mn-lt"/>
              </a:rPr>
              <a:t>Last Slide: Results and Testimonials</a:t>
            </a:r>
            <a:r>
              <a:rPr lang="en-SG" sz="1800" b="0" i="0" dirty="0">
                <a:solidFill>
                  <a:schemeClr val="tx1"/>
                </a:solidFill>
                <a:effectLst/>
                <a:latin typeface="+mn-lt"/>
              </a:rPr>
              <a:t>​</a:t>
            </a:r>
            <a:br>
              <a:rPr lang="en-SG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u="none" strike="noStrike" spc="0" dirty="0">
                <a:solidFill>
                  <a:schemeClr val="tx1"/>
                </a:solidFill>
                <a:effectLst/>
                <a:latin typeface="+mn-lt"/>
              </a:rPr>
              <a:t>- Feedback from users/User Acceptance Test/Benchmark Tests/Accuracy/F1 Score</a:t>
            </a:r>
            <a:r>
              <a:rPr lang="en-SG" sz="1800" b="0" i="0" dirty="0">
                <a:solidFill>
                  <a:schemeClr val="tx1"/>
                </a:solidFill>
                <a:effectLst/>
                <a:latin typeface="+mn-lt"/>
              </a:rPr>
              <a:t>​</a:t>
            </a:r>
            <a:br>
              <a:rPr lang="en-SG" sz="1800" b="0" i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b="0" i="0" u="none" strike="noStrike" spc="0" dirty="0">
                <a:solidFill>
                  <a:schemeClr val="tx1"/>
                </a:solidFill>
                <a:effectLst/>
                <a:latin typeface="+mn-lt"/>
              </a:rPr>
              <a:t>- Limitations of the System and Future Improvement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02018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4" ma:contentTypeDescription="Create a new document." ma:contentTypeScope="" ma:versionID="3e0aff317a34c13b9ffe6d6bae97ba52">
  <xsd:schema xmlns:xsd="http://www.w3.org/2001/XMLSchema" xmlns:xs="http://www.w3.org/2001/XMLSchema" xmlns:p="http://schemas.microsoft.com/office/2006/metadata/properties" xmlns:ns3="42d1e402-c42d-419a-bd83-d8d365e28f11" xmlns:ns4="fdf483cb-5937-4af3-915e-55fd2d7d3a90" targetNamespace="http://schemas.microsoft.com/office/2006/metadata/properties" ma:root="true" ma:fieldsID="a8297ac875bbd16b627fb1e03d384272" ns3:_="" ns4:_="">
    <xsd:import namespace="42d1e402-c42d-419a-bd83-d8d365e28f11"/>
    <xsd:import namespace="fdf483cb-5937-4af3-915e-55fd2d7d3a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1A4370-D0BA-4DC6-BD51-167E9E9000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D51F9C-D2ED-43B0-AD9A-B6E6AB922127}">
  <ds:schemaRefs>
    <ds:schemaRef ds:uri="http://schemas.microsoft.com/office/infopath/2007/PartnerControls"/>
    <ds:schemaRef ds:uri="fdf483cb-5937-4af3-915e-55fd2d7d3a90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42d1e402-c42d-419a-bd83-d8d365e28f11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825C4F3-9A4B-4528-BB12-5C4F225A93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d1e402-c42d-419a-bd83-d8d365e28f11"/>
    <ds:schemaRef ds:uri="fdf483cb-5937-4af3-915e-55fd2d7d3a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5346</TotalTime>
  <Words>472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Adobe Devanagari</vt:lpstr>
      <vt:lpstr>Arial</vt:lpstr>
      <vt:lpstr>Calibri</vt:lpstr>
      <vt:lpstr>Cambria</vt:lpstr>
      <vt:lpstr>Times New Roman</vt:lpstr>
      <vt:lpstr>Wingdings</vt:lpstr>
      <vt:lpstr>Office Theme</vt:lpstr>
      <vt:lpstr>AI-Powered Smart Service Marketplace with Intelligent Discovery and Dynamic Pricing Models </vt:lpstr>
      <vt:lpstr>Overall Title of the Project</vt:lpstr>
      <vt:lpstr>IT22551320 | BANDARA W A M 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Service Marketplace with Intelligent Discovery and Dynamic Pricing Models</dc:title>
  <dc:creator>Koliya Pulasinghe</dc:creator>
  <cp:lastModifiedBy>SHIWANTHIKA M M it22283658</cp:lastModifiedBy>
  <cp:revision>25</cp:revision>
  <dcterms:created xsi:type="dcterms:W3CDTF">2025-08-25T09:34:25Z</dcterms:created>
  <dcterms:modified xsi:type="dcterms:W3CDTF">2026-10-18T11:24:03Z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